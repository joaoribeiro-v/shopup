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8288000" cy="10287000"/>
  <p:notesSz cx="6858000" cy="9144000"/>
  <p:embeddedFontLst>
    <p:embeddedFont>
      <p:font typeface="Abhaya Libre" panose="020B0604020202020204" charset="0"/>
      <p:regular r:id="rId29"/>
    </p:embeddedFont>
    <p:embeddedFont>
      <p:font typeface="Abhaya Libre Bold" panose="020B0604020202020204" charset="0"/>
      <p:regular r:id="rId30"/>
    </p:embeddedFont>
    <p:embeddedFont>
      <p:font typeface="Abhaya Libre Italics" panose="020B0604020202020204" charset="0"/>
      <p:regular r:id="rId31"/>
    </p:embeddedFont>
    <p:embeddedFont>
      <p:font typeface="Poppins" panose="00000500000000000000" pitchFamily="2" charset="0"/>
      <p:regular r:id="rId32"/>
      <p:bold r:id="rId33"/>
      <p:italic r:id="rId34"/>
      <p:boldItalic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CCA207-8268-1EA5-728B-D4ED406246C8}" v="24" dt="2025-12-03T22:41:31.1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03.12.2025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7.png"/><Relationship Id="rId7" Type="http://schemas.openxmlformats.org/officeDocument/2006/relationships/image" Target="../media/image41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jpeg"/><Relationship Id="rId4" Type="http://schemas.openxmlformats.org/officeDocument/2006/relationships/image" Target="../media/image50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504600" cy="10287000"/>
            <a:chOff x="0" y="0"/>
            <a:chExt cx="6728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72846" cy="13716000"/>
            </a:xfrm>
            <a:custGeom>
              <a:avLst/>
              <a:gdLst/>
              <a:ahLst/>
              <a:cxnLst/>
              <a:rect l="l" t="t" r="r" b="b"/>
              <a:pathLst>
                <a:path w="672846" h="13716000">
                  <a:moveTo>
                    <a:pt x="0" y="0"/>
                  </a:moveTo>
                  <a:lnTo>
                    <a:pt x="672846" y="0"/>
                  </a:lnTo>
                  <a:lnTo>
                    <a:pt x="672846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ED7A07">
                    <a:alpha val="100000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5400002"/>
            </a:gradFill>
          </p:spPr>
        </p:sp>
      </p:grpSp>
      <p:sp>
        <p:nvSpPr>
          <p:cNvPr id="4" name="TextBox 4"/>
          <p:cNvSpPr txBox="1"/>
          <p:nvPr/>
        </p:nvSpPr>
        <p:spPr>
          <a:xfrm>
            <a:off x="1822675" y="2568147"/>
            <a:ext cx="9311491" cy="3076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11"/>
              </a:lnSpc>
            </a:pPr>
            <a:r>
              <a:rPr lang="en-US" sz="12200" b="1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ShopUp - Bazar Online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984600" y="7775265"/>
            <a:ext cx="8274167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Alunos: Jonathan Borges, João Ribeiro</a:t>
            </a:r>
          </a:p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Professor: Bruno Leonor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694472" y="5303012"/>
            <a:ext cx="7631503" cy="2428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600"/>
              </a:lnSpc>
            </a:pPr>
            <a:r>
              <a:rPr lang="en-US" sz="8000" i="1">
                <a:solidFill>
                  <a:srgbClr val="000000"/>
                </a:solidFill>
                <a:latin typeface="Abhaya Libre Italics"/>
                <a:ea typeface="Abhaya Libre Italics"/>
                <a:cs typeface="Abhaya Libre Italics"/>
                <a:sym typeface="Abhaya Libre Italics"/>
              </a:rPr>
              <a:t>Projeto Interdisciplinar</a:t>
            </a:r>
          </a:p>
        </p:txBody>
      </p:sp>
      <p:sp>
        <p:nvSpPr>
          <p:cNvPr id="7" name="AutoShape 7"/>
          <p:cNvSpPr/>
          <p:nvPr/>
        </p:nvSpPr>
        <p:spPr>
          <a:xfrm>
            <a:off x="8658969" y="3315612"/>
            <a:ext cx="3207283" cy="0"/>
          </a:xfrm>
          <a:prstGeom prst="line">
            <a:avLst/>
          </a:prstGeom>
          <a:ln w="57150" cap="rnd">
            <a:solidFill>
              <a:srgbClr val="ED7A0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>
            <a:off x="14429581" y="1942499"/>
            <a:ext cx="2360173" cy="2993877"/>
          </a:xfrm>
          <a:custGeom>
            <a:avLst/>
            <a:gdLst/>
            <a:ahLst/>
            <a:cxnLst/>
            <a:rect l="l" t="t" r="r" b="b"/>
            <a:pathLst>
              <a:path w="2360173" h="2993877">
                <a:moveTo>
                  <a:pt x="0" y="0"/>
                </a:moveTo>
                <a:lnTo>
                  <a:pt x="2360173" y="0"/>
                </a:lnTo>
                <a:lnTo>
                  <a:pt x="2360173" y="2993876"/>
                </a:lnTo>
                <a:lnTo>
                  <a:pt x="0" y="29938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504600" cy="10287000"/>
            <a:chOff x="0" y="0"/>
            <a:chExt cx="6728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72846" cy="13716000"/>
            </a:xfrm>
            <a:custGeom>
              <a:avLst/>
              <a:gdLst/>
              <a:ahLst/>
              <a:cxnLst/>
              <a:rect l="l" t="t" r="r" b="b"/>
              <a:pathLst>
                <a:path w="672846" h="13716000">
                  <a:moveTo>
                    <a:pt x="0" y="0"/>
                  </a:moveTo>
                  <a:lnTo>
                    <a:pt x="672846" y="0"/>
                  </a:lnTo>
                  <a:lnTo>
                    <a:pt x="672846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ED7A07">
                    <a:alpha val="100000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5400002"/>
            </a:gradFill>
          </p:spPr>
        </p:sp>
      </p:grpSp>
      <p:grpSp>
        <p:nvGrpSpPr>
          <p:cNvPr id="4" name="Group 4"/>
          <p:cNvGrpSpPr/>
          <p:nvPr/>
        </p:nvGrpSpPr>
        <p:grpSpPr>
          <a:xfrm>
            <a:off x="8864864" y="6277908"/>
            <a:ext cx="5602944" cy="289604"/>
            <a:chOff x="0" y="0"/>
            <a:chExt cx="7470592" cy="38613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470649" cy="386080"/>
            </a:xfrm>
            <a:custGeom>
              <a:avLst/>
              <a:gdLst/>
              <a:ahLst/>
              <a:cxnLst/>
              <a:rect l="l" t="t" r="r" b="b"/>
              <a:pathLst>
                <a:path w="7470649" h="386080">
                  <a:moveTo>
                    <a:pt x="16256" y="0"/>
                  </a:moveTo>
                  <a:lnTo>
                    <a:pt x="0" y="386080"/>
                  </a:lnTo>
                  <a:lnTo>
                    <a:pt x="7454392" y="344678"/>
                  </a:lnTo>
                  <a:lnTo>
                    <a:pt x="7470649" y="55118"/>
                  </a:lnTo>
                  <a:close/>
                </a:path>
              </a:pathLst>
            </a:custGeom>
            <a:solidFill>
              <a:srgbClr val="ED7A0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7755400" y="4455640"/>
            <a:ext cx="9804730" cy="2460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27"/>
              </a:lnSpc>
            </a:pPr>
            <a:r>
              <a:rPr lang="en-US" sz="123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         Problemas e Contexto</a:t>
            </a:r>
          </a:p>
        </p:txBody>
      </p:sp>
      <p:grpSp>
        <p:nvGrpSpPr>
          <p:cNvPr id="7" name="Group 7"/>
          <p:cNvGrpSpPr/>
          <p:nvPr/>
        </p:nvGrpSpPr>
        <p:grpSpPr>
          <a:xfrm rot="-448633">
            <a:off x="1342460" y="5476300"/>
            <a:ext cx="5436024" cy="5434834"/>
            <a:chOff x="0" y="0"/>
            <a:chExt cx="7248032" cy="724644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248017" cy="7246493"/>
            </a:xfrm>
            <a:custGeom>
              <a:avLst/>
              <a:gdLst/>
              <a:ahLst/>
              <a:cxnLst/>
              <a:rect l="l" t="t" r="r" b="b"/>
              <a:pathLst>
                <a:path w="7248017" h="7246493">
                  <a:moveTo>
                    <a:pt x="0" y="3623183"/>
                  </a:moveTo>
                  <a:lnTo>
                    <a:pt x="692150" y="1383919"/>
                  </a:lnTo>
                  <a:lnTo>
                    <a:pt x="2504186" y="0"/>
                  </a:lnTo>
                  <a:lnTo>
                    <a:pt x="4743958" y="0"/>
                  </a:lnTo>
                  <a:lnTo>
                    <a:pt x="6555867" y="1383919"/>
                  </a:lnTo>
                  <a:lnTo>
                    <a:pt x="7248017" y="3623183"/>
                  </a:lnTo>
                  <a:lnTo>
                    <a:pt x="6555867" y="5862447"/>
                  </a:lnTo>
                  <a:lnTo>
                    <a:pt x="4743958" y="7246493"/>
                  </a:lnTo>
                  <a:lnTo>
                    <a:pt x="2504186" y="7246493"/>
                  </a:lnTo>
                  <a:lnTo>
                    <a:pt x="692150" y="5862447"/>
                  </a:lnTo>
                  <a:close/>
                </a:path>
              </a:pathLst>
            </a:custGeom>
            <a:solidFill>
              <a:srgbClr val="ED7A07">
                <a:alpha val="27843"/>
              </a:srgbClr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7369725" y="539975"/>
            <a:ext cx="3442350" cy="350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0"/>
              </a:lnSpc>
            </a:pPr>
            <a:r>
              <a:rPr lang="en-US" sz="25000">
                <a:solidFill>
                  <a:srgbClr val="ED7A07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07775" y="7280026"/>
            <a:ext cx="5746950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Desafios enfrentados pelos bazares tradicionais</a:t>
            </a:r>
          </a:p>
        </p:txBody>
      </p:sp>
      <p:sp>
        <p:nvSpPr>
          <p:cNvPr id="11" name="AutoShape 11"/>
          <p:cNvSpPr/>
          <p:nvPr/>
        </p:nvSpPr>
        <p:spPr>
          <a:xfrm rot="211568">
            <a:off x="7537806" y="4729887"/>
            <a:ext cx="2477891" cy="0"/>
          </a:xfrm>
          <a:prstGeom prst="line">
            <a:avLst/>
          </a:prstGeom>
          <a:ln w="57150" cap="rnd">
            <a:solidFill>
              <a:srgbClr val="ED7A0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>
            <a:off x="1912400" y="1374798"/>
            <a:ext cx="2082600" cy="2082000"/>
            <a:chOff x="0" y="0"/>
            <a:chExt cx="2776800" cy="2776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776855" cy="2776220"/>
            </a:xfrm>
            <a:custGeom>
              <a:avLst/>
              <a:gdLst/>
              <a:ahLst/>
              <a:cxnLst/>
              <a:rect l="l" t="t" r="r" b="b"/>
              <a:pathLst>
                <a:path w="2776855" h="2776220">
                  <a:moveTo>
                    <a:pt x="0" y="1387983"/>
                  </a:moveTo>
                  <a:lnTo>
                    <a:pt x="265176" y="530225"/>
                  </a:lnTo>
                  <a:lnTo>
                    <a:pt x="959358" y="0"/>
                  </a:lnTo>
                  <a:lnTo>
                    <a:pt x="1817497" y="0"/>
                  </a:lnTo>
                  <a:lnTo>
                    <a:pt x="2511679" y="530225"/>
                  </a:lnTo>
                  <a:lnTo>
                    <a:pt x="2776855" y="1388110"/>
                  </a:lnTo>
                  <a:lnTo>
                    <a:pt x="2511679" y="2245995"/>
                  </a:lnTo>
                  <a:lnTo>
                    <a:pt x="1817497" y="2776220"/>
                  </a:lnTo>
                  <a:lnTo>
                    <a:pt x="959358" y="2776220"/>
                  </a:lnTo>
                  <a:lnTo>
                    <a:pt x="265176" y="2245868"/>
                  </a:lnTo>
                  <a:close/>
                </a:path>
              </a:pathLst>
            </a:custGeom>
            <a:solidFill>
              <a:srgbClr val="ED7A07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2387472" y="1766780"/>
            <a:ext cx="1127671" cy="1298042"/>
          </a:xfrm>
          <a:custGeom>
            <a:avLst/>
            <a:gdLst/>
            <a:ahLst/>
            <a:cxnLst/>
            <a:rect l="l" t="t" r="r" b="b"/>
            <a:pathLst>
              <a:path w="1127671" h="1298042">
                <a:moveTo>
                  <a:pt x="0" y="0"/>
                </a:moveTo>
                <a:lnTo>
                  <a:pt x="1127671" y="0"/>
                </a:lnTo>
                <a:lnTo>
                  <a:pt x="1127671" y="1298042"/>
                </a:lnTo>
                <a:lnTo>
                  <a:pt x="0" y="12980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448633">
            <a:off x="2222736" y="5218650"/>
            <a:ext cx="5436024" cy="5434834"/>
            <a:chOff x="0" y="0"/>
            <a:chExt cx="7248032" cy="72464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248017" cy="7246493"/>
            </a:xfrm>
            <a:custGeom>
              <a:avLst/>
              <a:gdLst/>
              <a:ahLst/>
              <a:cxnLst/>
              <a:rect l="l" t="t" r="r" b="b"/>
              <a:pathLst>
                <a:path w="7248017" h="7246493">
                  <a:moveTo>
                    <a:pt x="0" y="3623183"/>
                  </a:moveTo>
                  <a:lnTo>
                    <a:pt x="692150" y="1383919"/>
                  </a:lnTo>
                  <a:lnTo>
                    <a:pt x="2504186" y="0"/>
                  </a:lnTo>
                  <a:lnTo>
                    <a:pt x="4743958" y="0"/>
                  </a:lnTo>
                  <a:lnTo>
                    <a:pt x="6555867" y="1383919"/>
                  </a:lnTo>
                  <a:lnTo>
                    <a:pt x="7248017" y="3623183"/>
                  </a:lnTo>
                  <a:lnTo>
                    <a:pt x="6555867" y="5862447"/>
                  </a:lnTo>
                  <a:lnTo>
                    <a:pt x="4743958" y="7246493"/>
                  </a:lnTo>
                  <a:lnTo>
                    <a:pt x="2504186" y="7246493"/>
                  </a:lnTo>
                  <a:lnTo>
                    <a:pt x="692150" y="5862447"/>
                  </a:lnTo>
                  <a:close/>
                </a:path>
              </a:pathLst>
            </a:custGeom>
            <a:solidFill>
              <a:srgbClr val="ED7A07">
                <a:alpha val="27843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504600" cy="10287000"/>
            <a:chOff x="0" y="0"/>
            <a:chExt cx="6728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72846" cy="13716000"/>
            </a:xfrm>
            <a:custGeom>
              <a:avLst/>
              <a:gdLst/>
              <a:ahLst/>
              <a:cxnLst/>
              <a:rect l="l" t="t" r="r" b="b"/>
              <a:pathLst>
                <a:path w="672846" h="13716000">
                  <a:moveTo>
                    <a:pt x="0" y="0"/>
                  </a:moveTo>
                  <a:lnTo>
                    <a:pt x="672846" y="0"/>
                  </a:lnTo>
                  <a:lnTo>
                    <a:pt x="672846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ED7A07">
                    <a:alpha val="100000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5400002"/>
            </a:gradFill>
          </p:spPr>
        </p:sp>
      </p:grpSp>
      <p:sp>
        <p:nvSpPr>
          <p:cNvPr id="6" name="AutoShape 6"/>
          <p:cNvSpPr/>
          <p:nvPr/>
        </p:nvSpPr>
        <p:spPr>
          <a:xfrm rot="147060">
            <a:off x="9629685" y="2790075"/>
            <a:ext cx="1781830" cy="0"/>
          </a:xfrm>
          <a:prstGeom prst="line">
            <a:avLst/>
          </a:prstGeom>
          <a:ln w="28575" cap="rnd">
            <a:solidFill>
              <a:srgbClr val="ED7A0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5814626" y="2092998"/>
            <a:ext cx="2082600" cy="2082000"/>
            <a:chOff x="0" y="0"/>
            <a:chExt cx="2776800" cy="2776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76855" cy="2776220"/>
            </a:xfrm>
            <a:custGeom>
              <a:avLst/>
              <a:gdLst/>
              <a:ahLst/>
              <a:cxnLst/>
              <a:rect l="l" t="t" r="r" b="b"/>
              <a:pathLst>
                <a:path w="2776855" h="2776220">
                  <a:moveTo>
                    <a:pt x="0" y="1387983"/>
                  </a:moveTo>
                  <a:lnTo>
                    <a:pt x="265176" y="530225"/>
                  </a:lnTo>
                  <a:lnTo>
                    <a:pt x="959358" y="0"/>
                  </a:lnTo>
                  <a:lnTo>
                    <a:pt x="1817497" y="0"/>
                  </a:lnTo>
                  <a:lnTo>
                    <a:pt x="2511679" y="530225"/>
                  </a:lnTo>
                  <a:lnTo>
                    <a:pt x="2776855" y="1388110"/>
                  </a:lnTo>
                  <a:lnTo>
                    <a:pt x="2511679" y="2245995"/>
                  </a:lnTo>
                  <a:lnTo>
                    <a:pt x="1817497" y="2776220"/>
                  </a:lnTo>
                  <a:lnTo>
                    <a:pt x="959358" y="2776220"/>
                  </a:lnTo>
                  <a:lnTo>
                    <a:pt x="265176" y="2245868"/>
                  </a:lnTo>
                  <a:close/>
                </a:path>
              </a:pathLst>
            </a:custGeom>
            <a:solidFill>
              <a:srgbClr val="ED7A07"/>
            </a:solidFill>
          </p:spPr>
        </p:sp>
      </p:grpSp>
      <p:sp>
        <p:nvSpPr>
          <p:cNvPr id="9" name="Freeform 9"/>
          <p:cNvSpPr/>
          <p:nvPr/>
        </p:nvSpPr>
        <p:spPr>
          <a:xfrm>
            <a:off x="6264074" y="2613688"/>
            <a:ext cx="1184078" cy="1044143"/>
          </a:xfrm>
          <a:custGeom>
            <a:avLst/>
            <a:gdLst/>
            <a:ahLst/>
            <a:cxnLst/>
            <a:rect l="l" t="t" r="r" b="b"/>
            <a:pathLst>
              <a:path w="1184078" h="1044143">
                <a:moveTo>
                  <a:pt x="0" y="0"/>
                </a:moveTo>
                <a:lnTo>
                  <a:pt x="1184078" y="0"/>
                </a:lnTo>
                <a:lnTo>
                  <a:pt x="1184078" y="1044143"/>
                </a:lnTo>
                <a:lnTo>
                  <a:pt x="0" y="10441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9478697" y="4548159"/>
            <a:ext cx="8306731" cy="296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popularização das plataformas digitais tem transformado a compra, venda e doação de produtos. Bazares físicos, embora importantes socialmente, enfrentam gestão manual, baixa divulgação e desorganização de estoque, impactando a eficiência e a experiência dos usuários.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78697" y="3167034"/>
            <a:ext cx="5734950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00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Contexto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47060">
            <a:off x="2314485" y="2790075"/>
            <a:ext cx="1781830" cy="0"/>
          </a:xfrm>
          <a:prstGeom prst="line">
            <a:avLst/>
          </a:prstGeom>
          <a:ln w="28575" cap="rnd">
            <a:solidFill>
              <a:srgbClr val="ED7A0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0" y="0"/>
            <a:ext cx="504600" cy="10287000"/>
            <a:chOff x="0" y="0"/>
            <a:chExt cx="6728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72846" cy="13716000"/>
            </a:xfrm>
            <a:custGeom>
              <a:avLst/>
              <a:gdLst/>
              <a:ahLst/>
              <a:cxnLst/>
              <a:rect l="l" t="t" r="r" b="b"/>
              <a:pathLst>
                <a:path w="672846" h="13716000">
                  <a:moveTo>
                    <a:pt x="0" y="0"/>
                  </a:moveTo>
                  <a:lnTo>
                    <a:pt x="672846" y="0"/>
                  </a:lnTo>
                  <a:lnTo>
                    <a:pt x="672846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ED7A07">
                    <a:alpha val="100000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5400002"/>
            </a:gradFill>
          </p:spPr>
        </p:sp>
      </p:grpSp>
      <p:grpSp>
        <p:nvGrpSpPr>
          <p:cNvPr id="5" name="Group 5"/>
          <p:cNvGrpSpPr/>
          <p:nvPr/>
        </p:nvGrpSpPr>
        <p:grpSpPr>
          <a:xfrm>
            <a:off x="11024850" y="1337898"/>
            <a:ext cx="2082600" cy="2082000"/>
            <a:chOff x="0" y="0"/>
            <a:chExt cx="2776800" cy="2776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76855" cy="2776220"/>
            </a:xfrm>
            <a:custGeom>
              <a:avLst/>
              <a:gdLst/>
              <a:ahLst/>
              <a:cxnLst/>
              <a:rect l="l" t="t" r="r" b="b"/>
              <a:pathLst>
                <a:path w="2776855" h="2776220">
                  <a:moveTo>
                    <a:pt x="0" y="1387983"/>
                  </a:moveTo>
                  <a:lnTo>
                    <a:pt x="265176" y="530225"/>
                  </a:lnTo>
                  <a:lnTo>
                    <a:pt x="959358" y="0"/>
                  </a:lnTo>
                  <a:lnTo>
                    <a:pt x="1817497" y="0"/>
                  </a:lnTo>
                  <a:lnTo>
                    <a:pt x="2511679" y="530225"/>
                  </a:lnTo>
                  <a:lnTo>
                    <a:pt x="2776855" y="1388110"/>
                  </a:lnTo>
                  <a:lnTo>
                    <a:pt x="2511679" y="2245995"/>
                  </a:lnTo>
                  <a:lnTo>
                    <a:pt x="1817497" y="2776220"/>
                  </a:lnTo>
                  <a:lnTo>
                    <a:pt x="959358" y="2776220"/>
                  </a:lnTo>
                  <a:lnTo>
                    <a:pt x="265176" y="2245868"/>
                  </a:lnTo>
                  <a:close/>
                </a:path>
              </a:pathLst>
            </a:custGeom>
            <a:solidFill>
              <a:srgbClr val="ED7A07"/>
            </a:solidFill>
          </p:spPr>
        </p:sp>
      </p:grpSp>
      <p:sp>
        <p:nvSpPr>
          <p:cNvPr id="7" name="Freeform 7"/>
          <p:cNvSpPr/>
          <p:nvPr/>
        </p:nvSpPr>
        <p:spPr>
          <a:xfrm>
            <a:off x="11443728" y="1758014"/>
            <a:ext cx="1247647" cy="1253355"/>
          </a:xfrm>
          <a:custGeom>
            <a:avLst/>
            <a:gdLst/>
            <a:ahLst/>
            <a:cxnLst/>
            <a:rect l="l" t="t" r="r" b="b"/>
            <a:pathLst>
              <a:path w="1247647" h="1253355">
                <a:moveTo>
                  <a:pt x="0" y="0"/>
                </a:moveTo>
                <a:lnTo>
                  <a:pt x="1247647" y="0"/>
                </a:lnTo>
                <a:lnTo>
                  <a:pt x="1247647" y="1253354"/>
                </a:lnTo>
                <a:lnTo>
                  <a:pt x="0" y="12533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153972" y="3167001"/>
            <a:ext cx="5734950" cy="1076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00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Problemas</a:t>
            </a:r>
          </a:p>
        </p:txBody>
      </p:sp>
      <p:grpSp>
        <p:nvGrpSpPr>
          <p:cNvPr id="9" name="Group 9"/>
          <p:cNvGrpSpPr/>
          <p:nvPr/>
        </p:nvGrpSpPr>
        <p:grpSpPr>
          <a:xfrm rot="-448633">
            <a:off x="12963486" y="5034400"/>
            <a:ext cx="5436024" cy="5434834"/>
            <a:chOff x="0" y="0"/>
            <a:chExt cx="7248032" cy="724644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248017" cy="7246493"/>
            </a:xfrm>
            <a:custGeom>
              <a:avLst/>
              <a:gdLst/>
              <a:ahLst/>
              <a:cxnLst/>
              <a:rect l="l" t="t" r="r" b="b"/>
              <a:pathLst>
                <a:path w="7248017" h="7246493">
                  <a:moveTo>
                    <a:pt x="0" y="3623183"/>
                  </a:moveTo>
                  <a:lnTo>
                    <a:pt x="692150" y="1383919"/>
                  </a:lnTo>
                  <a:lnTo>
                    <a:pt x="2504186" y="0"/>
                  </a:lnTo>
                  <a:lnTo>
                    <a:pt x="4743958" y="0"/>
                  </a:lnTo>
                  <a:lnTo>
                    <a:pt x="6555867" y="1383919"/>
                  </a:lnTo>
                  <a:lnTo>
                    <a:pt x="7248017" y="3623183"/>
                  </a:lnTo>
                  <a:lnTo>
                    <a:pt x="6555867" y="5862447"/>
                  </a:lnTo>
                  <a:lnTo>
                    <a:pt x="4743958" y="7246493"/>
                  </a:lnTo>
                  <a:lnTo>
                    <a:pt x="2504186" y="7246493"/>
                  </a:lnTo>
                  <a:lnTo>
                    <a:pt x="692150" y="5862447"/>
                  </a:lnTo>
                  <a:close/>
                </a:path>
              </a:pathLst>
            </a:custGeom>
            <a:solidFill>
              <a:srgbClr val="ED7A07">
                <a:alpha val="27843"/>
              </a:srgbClr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1864967" y="4599042"/>
            <a:ext cx="8683401" cy="3152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4081" lvl="1" indent="-322040" algn="l">
              <a:lnSpc>
                <a:spcPts val="3579"/>
              </a:lnSpc>
              <a:buFont typeface="Arial"/>
              <a:buChar char="•"/>
            </a:pPr>
            <a:r>
              <a:rPr lang="en-US" sz="298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Gestão manual de produtos</a:t>
            </a:r>
          </a:p>
          <a:p>
            <a:pPr marL="644081" lvl="1" indent="-322040" algn="l">
              <a:lnSpc>
                <a:spcPts val="3579"/>
              </a:lnSpc>
              <a:buFont typeface="Arial"/>
              <a:buChar char="•"/>
            </a:pPr>
            <a:r>
              <a:rPr lang="en-US" sz="298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Falta de controle de estoque e preços</a:t>
            </a:r>
          </a:p>
          <a:p>
            <a:pPr marL="644081" lvl="1" indent="-322040" algn="l">
              <a:lnSpc>
                <a:spcPts val="3579"/>
              </a:lnSpc>
              <a:buFont typeface="Arial"/>
              <a:buChar char="•"/>
            </a:pPr>
            <a:r>
              <a:rPr lang="en-US" sz="298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Divulgação limitada</a:t>
            </a:r>
          </a:p>
          <a:p>
            <a:pPr marL="644081" lvl="1" indent="-322040" algn="l">
              <a:lnSpc>
                <a:spcPts val="3579"/>
              </a:lnSpc>
              <a:buFont typeface="Arial"/>
              <a:buChar char="•"/>
            </a:pPr>
            <a:r>
              <a:rPr lang="en-US" sz="298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Processo de compra complexo</a:t>
            </a:r>
          </a:p>
          <a:p>
            <a:pPr marL="644081" lvl="1" indent="-322040" algn="l">
              <a:lnSpc>
                <a:spcPts val="3579"/>
              </a:lnSpc>
              <a:buFont typeface="Arial"/>
              <a:buChar char="•"/>
            </a:pPr>
            <a:r>
              <a:rPr lang="en-US" sz="298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Rastreabilidade insuficiente</a:t>
            </a:r>
          </a:p>
          <a:p>
            <a:pPr marL="644081" lvl="1" indent="-322040" algn="l">
              <a:lnSpc>
                <a:spcPts val="3579"/>
              </a:lnSpc>
              <a:buFont typeface="Arial"/>
              <a:buChar char="•"/>
            </a:pPr>
            <a:r>
              <a:rPr lang="en-US" sz="298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Dependência de pessoal para operações</a:t>
            </a:r>
          </a:p>
          <a:p>
            <a:pPr algn="l">
              <a:lnSpc>
                <a:spcPts val="3579"/>
              </a:lnSpc>
            </a:pPr>
            <a:endParaRPr lang="en-US" sz="2983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504600" cy="10287000"/>
            <a:chOff x="0" y="0"/>
            <a:chExt cx="6728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72846" cy="13716000"/>
            </a:xfrm>
            <a:custGeom>
              <a:avLst/>
              <a:gdLst/>
              <a:ahLst/>
              <a:cxnLst/>
              <a:rect l="l" t="t" r="r" b="b"/>
              <a:pathLst>
                <a:path w="672846" h="13716000">
                  <a:moveTo>
                    <a:pt x="0" y="0"/>
                  </a:moveTo>
                  <a:lnTo>
                    <a:pt x="672846" y="0"/>
                  </a:lnTo>
                  <a:lnTo>
                    <a:pt x="672846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ED7A07">
                    <a:alpha val="100000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5400002"/>
            </a:gradFill>
          </p:spPr>
        </p:sp>
      </p:grpSp>
      <p:grpSp>
        <p:nvGrpSpPr>
          <p:cNvPr id="4" name="Group 4"/>
          <p:cNvGrpSpPr/>
          <p:nvPr/>
        </p:nvGrpSpPr>
        <p:grpSpPr>
          <a:xfrm>
            <a:off x="7755400" y="6379335"/>
            <a:ext cx="3236125" cy="167268"/>
            <a:chOff x="0" y="0"/>
            <a:chExt cx="7470592" cy="38613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470649" cy="386080"/>
            </a:xfrm>
            <a:custGeom>
              <a:avLst/>
              <a:gdLst/>
              <a:ahLst/>
              <a:cxnLst/>
              <a:rect l="l" t="t" r="r" b="b"/>
              <a:pathLst>
                <a:path w="7470649" h="386080">
                  <a:moveTo>
                    <a:pt x="16256" y="0"/>
                  </a:moveTo>
                  <a:lnTo>
                    <a:pt x="0" y="386080"/>
                  </a:lnTo>
                  <a:lnTo>
                    <a:pt x="7454392" y="344678"/>
                  </a:lnTo>
                  <a:lnTo>
                    <a:pt x="7470649" y="55118"/>
                  </a:lnTo>
                  <a:close/>
                </a:path>
              </a:pathLst>
            </a:custGeom>
            <a:solidFill>
              <a:srgbClr val="ED7A0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7755400" y="4455574"/>
            <a:ext cx="9377252" cy="2460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27"/>
              </a:lnSpc>
            </a:pPr>
            <a:r>
              <a:rPr lang="en-US" sz="123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         Público-Alvo</a:t>
            </a:r>
          </a:p>
        </p:txBody>
      </p:sp>
      <p:grpSp>
        <p:nvGrpSpPr>
          <p:cNvPr id="7" name="Group 7"/>
          <p:cNvGrpSpPr/>
          <p:nvPr/>
        </p:nvGrpSpPr>
        <p:grpSpPr>
          <a:xfrm rot="-448633">
            <a:off x="1342460" y="5476300"/>
            <a:ext cx="5436024" cy="5434834"/>
            <a:chOff x="0" y="0"/>
            <a:chExt cx="7248032" cy="724644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248017" cy="7246493"/>
            </a:xfrm>
            <a:custGeom>
              <a:avLst/>
              <a:gdLst/>
              <a:ahLst/>
              <a:cxnLst/>
              <a:rect l="l" t="t" r="r" b="b"/>
              <a:pathLst>
                <a:path w="7248017" h="7246493">
                  <a:moveTo>
                    <a:pt x="0" y="3623183"/>
                  </a:moveTo>
                  <a:lnTo>
                    <a:pt x="692150" y="1383919"/>
                  </a:lnTo>
                  <a:lnTo>
                    <a:pt x="2504186" y="0"/>
                  </a:lnTo>
                  <a:lnTo>
                    <a:pt x="4743958" y="0"/>
                  </a:lnTo>
                  <a:lnTo>
                    <a:pt x="6555867" y="1383919"/>
                  </a:lnTo>
                  <a:lnTo>
                    <a:pt x="7248017" y="3623183"/>
                  </a:lnTo>
                  <a:lnTo>
                    <a:pt x="6555867" y="5862447"/>
                  </a:lnTo>
                  <a:lnTo>
                    <a:pt x="4743958" y="7246493"/>
                  </a:lnTo>
                  <a:lnTo>
                    <a:pt x="2504186" y="7246493"/>
                  </a:lnTo>
                  <a:lnTo>
                    <a:pt x="692150" y="5862447"/>
                  </a:lnTo>
                  <a:close/>
                </a:path>
              </a:pathLst>
            </a:custGeom>
            <a:solidFill>
              <a:srgbClr val="ED7A07">
                <a:alpha val="27843"/>
              </a:srgbClr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7369725" y="515562"/>
            <a:ext cx="4069614" cy="404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0"/>
              </a:lnSpc>
            </a:pPr>
            <a:r>
              <a:rPr lang="en-US" sz="25000">
                <a:solidFill>
                  <a:srgbClr val="ED7A07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55400" y="6973603"/>
            <a:ext cx="5746950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Quem será beneficiado pela plataforma?</a:t>
            </a:r>
          </a:p>
        </p:txBody>
      </p:sp>
      <p:sp>
        <p:nvSpPr>
          <p:cNvPr id="11" name="AutoShape 11"/>
          <p:cNvSpPr/>
          <p:nvPr/>
        </p:nvSpPr>
        <p:spPr>
          <a:xfrm rot="211568">
            <a:off x="7537806" y="4729887"/>
            <a:ext cx="2477891" cy="0"/>
          </a:xfrm>
          <a:prstGeom prst="line">
            <a:avLst/>
          </a:prstGeom>
          <a:ln w="57150" cap="rnd">
            <a:solidFill>
              <a:srgbClr val="ED7A0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>
            <a:off x="1912400" y="1374798"/>
            <a:ext cx="2082600" cy="2082000"/>
            <a:chOff x="0" y="0"/>
            <a:chExt cx="2776800" cy="2776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776855" cy="2776220"/>
            </a:xfrm>
            <a:custGeom>
              <a:avLst/>
              <a:gdLst/>
              <a:ahLst/>
              <a:cxnLst/>
              <a:rect l="l" t="t" r="r" b="b"/>
              <a:pathLst>
                <a:path w="2776855" h="2776220">
                  <a:moveTo>
                    <a:pt x="0" y="1387983"/>
                  </a:moveTo>
                  <a:lnTo>
                    <a:pt x="265176" y="530225"/>
                  </a:lnTo>
                  <a:lnTo>
                    <a:pt x="959358" y="0"/>
                  </a:lnTo>
                  <a:lnTo>
                    <a:pt x="1817497" y="0"/>
                  </a:lnTo>
                  <a:lnTo>
                    <a:pt x="2511679" y="530225"/>
                  </a:lnTo>
                  <a:lnTo>
                    <a:pt x="2776855" y="1388110"/>
                  </a:lnTo>
                  <a:lnTo>
                    <a:pt x="2511679" y="2245995"/>
                  </a:lnTo>
                  <a:lnTo>
                    <a:pt x="1817497" y="2776220"/>
                  </a:lnTo>
                  <a:lnTo>
                    <a:pt x="959358" y="2776220"/>
                  </a:lnTo>
                  <a:lnTo>
                    <a:pt x="265176" y="2245868"/>
                  </a:lnTo>
                  <a:close/>
                </a:path>
              </a:pathLst>
            </a:custGeom>
            <a:solidFill>
              <a:srgbClr val="ED7A07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2387472" y="1766780"/>
            <a:ext cx="1127671" cy="1298042"/>
          </a:xfrm>
          <a:custGeom>
            <a:avLst/>
            <a:gdLst/>
            <a:ahLst/>
            <a:cxnLst/>
            <a:rect l="l" t="t" r="r" b="b"/>
            <a:pathLst>
              <a:path w="1127671" h="1298042">
                <a:moveTo>
                  <a:pt x="0" y="0"/>
                </a:moveTo>
                <a:lnTo>
                  <a:pt x="1127671" y="0"/>
                </a:lnTo>
                <a:lnTo>
                  <a:pt x="1127671" y="1298042"/>
                </a:lnTo>
                <a:lnTo>
                  <a:pt x="0" y="12980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593020" y="8662406"/>
            <a:ext cx="500490" cy="500490"/>
            <a:chOff x="0" y="0"/>
            <a:chExt cx="667320" cy="6673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7258" cy="667385"/>
            </a:xfrm>
            <a:custGeom>
              <a:avLst/>
              <a:gdLst/>
              <a:ahLst/>
              <a:cxnLst/>
              <a:rect l="l" t="t" r="r" b="b"/>
              <a:pathLst>
                <a:path w="667258" h="667385">
                  <a:moveTo>
                    <a:pt x="333629" y="0"/>
                  </a:moveTo>
                  <a:lnTo>
                    <a:pt x="304165" y="129032"/>
                  </a:lnTo>
                  <a:cubicBezTo>
                    <a:pt x="282067" y="215646"/>
                    <a:pt x="215646" y="281940"/>
                    <a:pt x="129032" y="304165"/>
                  </a:cubicBezTo>
                  <a:lnTo>
                    <a:pt x="0" y="333629"/>
                  </a:lnTo>
                  <a:lnTo>
                    <a:pt x="129032" y="364998"/>
                  </a:lnTo>
                  <a:cubicBezTo>
                    <a:pt x="215646" y="385318"/>
                    <a:pt x="282067" y="453517"/>
                    <a:pt x="304165" y="540131"/>
                  </a:cubicBezTo>
                  <a:lnTo>
                    <a:pt x="333629" y="667385"/>
                  </a:lnTo>
                  <a:lnTo>
                    <a:pt x="364998" y="540131"/>
                  </a:lnTo>
                  <a:cubicBezTo>
                    <a:pt x="385318" y="453517"/>
                    <a:pt x="453517" y="385318"/>
                    <a:pt x="540131" y="364998"/>
                  </a:cubicBezTo>
                  <a:lnTo>
                    <a:pt x="667258" y="333629"/>
                  </a:lnTo>
                  <a:lnTo>
                    <a:pt x="540131" y="304165"/>
                  </a:lnTo>
                  <a:cubicBezTo>
                    <a:pt x="453517" y="282067"/>
                    <a:pt x="385318" y="215646"/>
                    <a:pt x="364998" y="129032"/>
                  </a:cubicBezTo>
                  <a:lnTo>
                    <a:pt x="333629" y="0"/>
                  </a:lnTo>
                  <a:close/>
                </a:path>
              </a:pathLst>
            </a:custGeom>
            <a:solidFill>
              <a:srgbClr val="F1EFF2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504600" cy="10287000"/>
            <a:chOff x="0" y="0"/>
            <a:chExt cx="6728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72846" cy="13716000"/>
            </a:xfrm>
            <a:custGeom>
              <a:avLst/>
              <a:gdLst/>
              <a:ahLst/>
              <a:cxnLst/>
              <a:rect l="l" t="t" r="r" b="b"/>
              <a:pathLst>
                <a:path w="672846" h="13716000">
                  <a:moveTo>
                    <a:pt x="0" y="0"/>
                  </a:moveTo>
                  <a:lnTo>
                    <a:pt x="672846" y="0"/>
                  </a:lnTo>
                  <a:lnTo>
                    <a:pt x="672846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ED7A07">
                    <a:alpha val="100000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5400002"/>
            </a:gradFill>
          </p:spPr>
        </p:sp>
      </p:grpSp>
      <p:sp>
        <p:nvSpPr>
          <p:cNvPr id="6" name="AutoShape 6"/>
          <p:cNvSpPr/>
          <p:nvPr/>
        </p:nvSpPr>
        <p:spPr>
          <a:xfrm rot="157789">
            <a:off x="1602525" y="1887825"/>
            <a:ext cx="1660749" cy="0"/>
          </a:xfrm>
          <a:prstGeom prst="line">
            <a:avLst/>
          </a:prstGeom>
          <a:ln w="28575" cap="rnd">
            <a:solidFill>
              <a:srgbClr val="ED7A0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1849071" y="3978015"/>
            <a:ext cx="16052867" cy="3416331"/>
            <a:chOff x="0" y="0"/>
            <a:chExt cx="21403823" cy="4555108"/>
          </a:xfrm>
        </p:grpSpPr>
        <p:grpSp>
          <p:nvGrpSpPr>
            <p:cNvPr id="8" name="Group 8"/>
            <p:cNvGrpSpPr/>
            <p:nvPr/>
          </p:nvGrpSpPr>
          <p:grpSpPr>
            <a:xfrm>
              <a:off x="15127297" y="34541"/>
              <a:ext cx="3003595" cy="3002730"/>
              <a:chOff x="0" y="0"/>
              <a:chExt cx="2776800" cy="2776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776855" cy="2776220"/>
              </a:xfrm>
              <a:custGeom>
                <a:avLst/>
                <a:gdLst/>
                <a:ahLst/>
                <a:cxnLst/>
                <a:rect l="l" t="t" r="r" b="b"/>
                <a:pathLst>
                  <a:path w="2776855" h="2776220">
                    <a:moveTo>
                      <a:pt x="0" y="1387983"/>
                    </a:moveTo>
                    <a:lnTo>
                      <a:pt x="265176" y="530225"/>
                    </a:lnTo>
                    <a:lnTo>
                      <a:pt x="959358" y="0"/>
                    </a:lnTo>
                    <a:lnTo>
                      <a:pt x="1817497" y="0"/>
                    </a:lnTo>
                    <a:lnTo>
                      <a:pt x="2511679" y="530225"/>
                    </a:lnTo>
                    <a:lnTo>
                      <a:pt x="2776855" y="1388110"/>
                    </a:lnTo>
                    <a:lnTo>
                      <a:pt x="2511679" y="2245995"/>
                    </a:lnTo>
                    <a:lnTo>
                      <a:pt x="1817497" y="2776220"/>
                    </a:lnTo>
                    <a:lnTo>
                      <a:pt x="959358" y="2776220"/>
                    </a:lnTo>
                    <a:lnTo>
                      <a:pt x="265176" y="2245868"/>
                    </a:lnTo>
                    <a:close/>
                  </a:path>
                </a:pathLst>
              </a:custGeom>
              <a:solidFill>
                <a:srgbClr val="ED7A07"/>
              </a:solidFill>
            </p:spPr>
          </p:sp>
        </p:grpSp>
        <p:sp>
          <p:nvSpPr>
            <p:cNvPr id="10" name="Freeform 10"/>
            <p:cNvSpPr/>
            <p:nvPr/>
          </p:nvSpPr>
          <p:spPr>
            <a:xfrm>
              <a:off x="15825983" y="913086"/>
              <a:ext cx="1562017" cy="1457254"/>
            </a:xfrm>
            <a:custGeom>
              <a:avLst/>
              <a:gdLst/>
              <a:ahLst/>
              <a:cxnLst/>
              <a:rect l="l" t="t" r="r" b="b"/>
              <a:pathLst>
                <a:path w="1562017" h="1457254">
                  <a:moveTo>
                    <a:pt x="0" y="0"/>
                  </a:moveTo>
                  <a:lnTo>
                    <a:pt x="1562017" y="0"/>
                  </a:lnTo>
                  <a:lnTo>
                    <a:pt x="1562017" y="1457253"/>
                  </a:lnTo>
                  <a:lnTo>
                    <a:pt x="0" y="14572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1" name="Group 11"/>
            <p:cNvGrpSpPr/>
            <p:nvPr/>
          </p:nvGrpSpPr>
          <p:grpSpPr>
            <a:xfrm>
              <a:off x="7563649" y="0"/>
              <a:ext cx="3003595" cy="3002730"/>
              <a:chOff x="0" y="0"/>
              <a:chExt cx="2776800" cy="27760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2776855" cy="2776220"/>
              </a:xfrm>
              <a:custGeom>
                <a:avLst/>
                <a:gdLst/>
                <a:ahLst/>
                <a:cxnLst/>
                <a:rect l="l" t="t" r="r" b="b"/>
                <a:pathLst>
                  <a:path w="2776855" h="2776220">
                    <a:moveTo>
                      <a:pt x="0" y="1387983"/>
                    </a:moveTo>
                    <a:lnTo>
                      <a:pt x="265176" y="530225"/>
                    </a:lnTo>
                    <a:lnTo>
                      <a:pt x="959358" y="0"/>
                    </a:lnTo>
                    <a:lnTo>
                      <a:pt x="1817497" y="0"/>
                    </a:lnTo>
                    <a:lnTo>
                      <a:pt x="2511679" y="530225"/>
                    </a:lnTo>
                    <a:lnTo>
                      <a:pt x="2776855" y="1388110"/>
                    </a:lnTo>
                    <a:lnTo>
                      <a:pt x="2511679" y="2245995"/>
                    </a:lnTo>
                    <a:lnTo>
                      <a:pt x="1817497" y="2776220"/>
                    </a:lnTo>
                    <a:lnTo>
                      <a:pt x="959358" y="2776220"/>
                    </a:lnTo>
                    <a:lnTo>
                      <a:pt x="265176" y="2245868"/>
                    </a:lnTo>
                    <a:close/>
                  </a:path>
                </a:pathLst>
              </a:custGeom>
              <a:solidFill>
                <a:srgbClr val="ED7A07"/>
              </a:solidFill>
            </p:spPr>
          </p:sp>
        </p:grpSp>
        <p:sp>
          <p:nvSpPr>
            <p:cNvPr id="13" name="Freeform 13"/>
            <p:cNvSpPr/>
            <p:nvPr/>
          </p:nvSpPr>
          <p:spPr>
            <a:xfrm>
              <a:off x="8256856" y="760094"/>
              <a:ext cx="1621553" cy="1482508"/>
            </a:xfrm>
            <a:custGeom>
              <a:avLst/>
              <a:gdLst/>
              <a:ahLst/>
              <a:cxnLst/>
              <a:rect l="l" t="t" r="r" b="b"/>
              <a:pathLst>
                <a:path w="1621553" h="1482508">
                  <a:moveTo>
                    <a:pt x="0" y="0"/>
                  </a:moveTo>
                  <a:lnTo>
                    <a:pt x="1621554" y="0"/>
                  </a:lnTo>
                  <a:lnTo>
                    <a:pt x="1621554" y="1482507"/>
                  </a:lnTo>
                  <a:lnTo>
                    <a:pt x="0" y="14825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4" name="Group 14"/>
            <p:cNvGrpSpPr/>
            <p:nvPr/>
          </p:nvGrpSpPr>
          <p:grpSpPr>
            <a:xfrm>
              <a:off x="0" y="17269"/>
              <a:ext cx="3003595" cy="3002730"/>
              <a:chOff x="0" y="0"/>
              <a:chExt cx="2776800" cy="27760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2776855" cy="2776220"/>
              </a:xfrm>
              <a:custGeom>
                <a:avLst/>
                <a:gdLst/>
                <a:ahLst/>
                <a:cxnLst/>
                <a:rect l="l" t="t" r="r" b="b"/>
                <a:pathLst>
                  <a:path w="2776855" h="2776220">
                    <a:moveTo>
                      <a:pt x="0" y="1387983"/>
                    </a:moveTo>
                    <a:lnTo>
                      <a:pt x="265176" y="530225"/>
                    </a:lnTo>
                    <a:lnTo>
                      <a:pt x="959358" y="0"/>
                    </a:lnTo>
                    <a:lnTo>
                      <a:pt x="1817497" y="0"/>
                    </a:lnTo>
                    <a:lnTo>
                      <a:pt x="2511679" y="530225"/>
                    </a:lnTo>
                    <a:lnTo>
                      <a:pt x="2776855" y="1388110"/>
                    </a:lnTo>
                    <a:lnTo>
                      <a:pt x="2511679" y="2245995"/>
                    </a:lnTo>
                    <a:lnTo>
                      <a:pt x="1817497" y="2776220"/>
                    </a:lnTo>
                    <a:lnTo>
                      <a:pt x="959358" y="2776220"/>
                    </a:lnTo>
                    <a:lnTo>
                      <a:pt x="265176" y="2245868"/>
                    </a:lnTo>
                    <a:close/>
                  </a:path>
                </a:pathLst>
              </a:custGeom>
              <a:solidFill>
                <a:srgbClr val="ED7A07"/>
              </a:solidFill>
            </p:spPr>
          </p:sp>
        </p:grpSp>
        <p:sp>
          <p:nvSpPr>
            <p:cNvPr id="16" name="Freeform 16"/>
            <p:cNvSpPr/>
            <p:nvPr/>
          </p:nvSpPr>
          <p:spPr>
            <a:xfrm>
              <a:off x="698890" y="752760"/>
              <a:ext cx="1610718" cy="1530341"/>
            </a:xfrm>
            <a:custGeom>
              <a:avLst/>
              <a:gdLst/>
              <a:ahLst/>
              <a:cxnLst/>
              <a:rect l="l" t="t" r="r" b="b"/>
              <a:pathLst>
                <a:path w="1610718" h="1530341">
                  <a:moveTo>
                    <a:pt x="0" y="0"/>
                  </a:moveTo>
                  <a:lnTo>
                    <a:pt x="1610718" y="0"/>
                  </a:lnTo>
                  <a:lnTo>
                    <a:pt x="1610718" y="1530341"/>
                  </a:lnTo>
                  <a:lnTo>
                    <a:pt x="0" y="15303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154534" y="3501550"/>
              <a:ext cx="6249702" cy="10535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230"/>
                </a:lnSpc>
              </a:pPr>
              <a:r>
                <a:rPr lang="en-US" sz="5192" b="1">
                  <a:solidFill>
                    <a:srgbClr val="000000"/>
                  </a:solidFill>
                  <a:latin typeface="Abhaya Libre Bold"/>
                  <a:ea typeface="Abhaya Libre Bold"/>
                  <a:cs typeface="Abhaya Libre Bold"/>
                  <a:sym typeface="Abhaya Libre Bold"/>
                </a:rPr>
                <a:t>Compradores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95539" y="3501550"/>
              <a:ext cx="6249702" cy="10535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230"/>
                </a:lnSpc>
              </a:pPr>
              <a:r>
                <a:rPr lang="en-US" sz="5192" b="1">
                  <a:solidFill>
                    <a:srgbClr val="000000"/>
                  </a:solidFill>
                  <a:latin typeface="Abhaya Libre Bold"/>
                  <a:ea typeface="Abhaya Libre Bold"/>
                  <a:cs typeface="Abhaya Libre Bold"/>
                  <a:sym typeface="Abhaya Libre Bold"/>
                </a:rPr>
                <a:t>Vendedores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154121" y="3416206"/>
              <a:ext cx="6249702" cy="10535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230"/>
                </a:lnSpc>
              </a:pPr>
              <a:r>
                <a:rPr lang="en-US" sz="5192" b="1">
                  <a:solidFill>
                    <a:srgbClr val="000000"/>
                  </a:solidFill>
                  <a:latin typeface="Abhaya Libre Bold"/>
                  <a:ea typeface="Abhaya Libre Bold"/>
                  <a:cs typeface="Abhaya Libre Bold"/>
                  <a:sym typeface="Abhaya Libre Bold"/>
                </a:rPr>
                <a:t>Administradores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3556075" y="1151375"/>
            <a:ext cx="13213950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00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Público-Alvo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504600" cy="10287000"/>
            <a:chOff x="0" y="0"/>
            <a:chExt cx="6728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72846" cy="13716000"/>
            </a:xfrm>
            <a:custGeom>
              <a:avLst/>
              <a:gdLst/>
              <a:ahLst/>
              <a:cxnLst/>
              <a:rect l="l" t="t" r="r" b="b"/>
              <a:pathLst>
                <a:path w="672846" h="13716000">
                  <a:moveTo>
                    <a:pt x="0" y="0"/>
                  </a:moveTo>
                  <a:lnTo>
                    <a:pt x="672846" y="0"/>
                  </a:lnTo>
                  <a:lnTo>
                    <a:pt x="672846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ED7A07">
                    <a:alpha val="100000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5400002"/>
            </a:gradFill>
          </p:spPr>
        </p:sp>
      </p:grpSp>
      <p:grpSp>
        <p:nvGrpSpPr>
          <p:cNvPr id="4" name="Group 4"/>
          <p:cNvGrpSpPr/>
          <p:nvPr/>
        </p:nvGrpSpPr>
        <p:grpSpPr>
          <a:xfrm>
            <a:off x="9705280" y="6350936"/>
            <a:ext cx="6636224" cy="343012"/>
            <a:chOff x="0" y="0"/>
            <a:chExt cx="7470592" cy="38613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470649" cy="386080"/>
            </a:xfrm>
            <a:custGeom>
              <a:avLst/>
              <a:gdLst/>
              <a:ahLst/>
              <a:cxnLst/>
              <a:rect l="l" t="t" r="r" b="b"/>
              <a:pathLst>
                <a:path w="7470649" h="386080">
                  <a:moveTo>
                    <a:pt x="16256" y="0"/>
                  </a:moveTo>
                  <a:lnTo>
                    <a:pt x="0" y="386080"/>
                  </a:lnTo>
                  <a:lnTo>
                    <a:pt x="7454392" y="344678"/>
                  </a:lnTo>
                  <a:lnTo>
                    <a:pt x="7470649" y="55118"/>
                  </a:lnTo>
                  <a:close/>
                </a:path>
              </a:pathLst>
            </a:custGeom>
            <a:solidFill>
              <a:srgbClr val="ED7A0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7755400" y="4455574"/>
            <a:ext cx="10532600" cy="2460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27"/>
              </a:lnSpc>
            </a:pPr>
            <a:r>
              <a:rPr lang="en-US" sz="123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         Engenharia de Requisitos</a:t>
            </a:r>
          </a:p>
        </p:txBody>
      </p:sp>
      <p:grpSp>
        <p:nvGrpSpPr>
          <p:cNvPr id="7" name="Group 7"/>
          <p:cNvGrpSpPr/>
          <p:nvPr/>
        </p:nvGrpSpPr>
        <p:grpSpPr>
          <a:xfrm rot="-448633">
            <a:off x="1342460" y="5476300"/>
            <a:ext cx="5436024" cy="5434834"/>
            <a:chOff x="0" y="0"/>
            <a:chExt cx="7248032" cy="724644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248017" cy="7246493"/>
            </a:xfrm>
            <a:custGeom>
              <a:avLst/>
              <a:gdLst/>
              <a:ahLst/>
              <a:cxnLst/>
              <a:rect l="l" t="t" r="r" b="b"/>
              <a:pathLst>
                <a:path w="7248017" h="7246493">
                  <a:moveTo>
                    <a:pt x="0" y="3623183"/>
                  </a:moveTo>
                  <a:lnTo>
                    <a:pt x="692150" y="1383919"/>
                  </a:lnTo>
                  <a:lnTo>
                    <a:pt x="2504186" y="0"/>
                  </a:lnTo>
                  <a:lnTo>
                    <a:pt x="4743958" y="0"/>
                  </a:lnTo>
                  <a:lnTo>
                    <a:pt x="6555867" y="1383919"/>
                  </a:lnTo>
                  <a:lnTo>
                    <a:pt x="7248017" y="3623183"/>
                  </a:lnTo>
                  <a:lnTo>
                    <a:pt x="6555867" y="5862447"/>
                  </a:lnTo>
                  <a:lnTo>
                    <a:pt x="4743958" y="7246493"/>
                  </a:lnTo>
                  <a:lnTo>
                    <a:pt x="2504186" y="7246493"/>
                  </a:lnTo>
                  <a:lnTo>
                    <a:pt x="692150" y="5862447"/>
                  </a:lnTo>
                  <a:close/>
                </a:path>
              </a:pathLst>
            </a:custGeom>
            <a:solidFill>
              <a:srgbClr val="ED7A07">
                <a:alpha val="27843"/>
              </a:srgbClr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7369725" y="515562"/>
            <a:ext cx="4069614" cy="404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0"/>
              </a:lnSpc>
            </a:pPr>
            <a:r>
              <a:rPr lang="en-US" sz="25000">
                <a:solidFill>
                  <a:srgbClr val="ED7A07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55400" y="7193592"/>
            <a:ext cx="5746950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Fundamentos que moldaram o sistema</a:t>
            </a:r>
          </a:p>
        </p:txBody>
      </p:sp>
      <p:sp>
        <p:nvSpPr>
          <p:cNvPr id="11" name="AutoShape 11"/>
          <p:cNvSpPr/>
          <p:nvPr/>
        </p:nvSpPr>
        <p:spPr>
          <a:xfrm rot="211568">
            <a:off x="7537806" y="4729887"/>
            <a:ext cx="2477891" cy="0"/>
          </a:xfrm>
          <a:prstGeom prst="line">
            <a:avLst/>
          </a:prstGeom>
          <a:ln w="57150" cap="rnd">
            <a:solidFill>
              <a:srgbClr val="ED7A0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>
            <a:off x="1912400" y="1374798"/>
            <a:ext cx="2082600" cy="2082000"/>
            <a:chOff x="0" y="0"/>
            <a:chExt cx="2776800" cy="2776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776855" cy="2776220"/>
            </a:xfrm>
            <a:custGeom>
              <a:avLst/>
              <a:gdLst/>
              <a:ahLst/>
              <a:cxnLst/>
              <a:rect l="l" t="t" r="r" b="b"/>
              <a:pathLst>
                <a:path w="2776855" h="2776220">
                  <a:moveTo>
                    <a:pt x="0" y="1387983"/>
                  </a:moveTo>
                  <a:lnTo>
                    <a:pt x="265176" y="530225"/>
                  </a:lnTo>
                  <a:lnTo>
                    <a:pt x="959358" y="0"/>
                  </a:lnTo>
                  <a:lnTo>
                    <a:pt x="1817497" y="0"/>
                  </a:lnTo>
                  <a:lnTo>
                    <a:pt x="2511679" y="530225"/>
                  </a:lnTo>
                  <a:lnTo>
                    <a:pt x="2776855" y="1388110"/>
                  </a:lnTo>
                  <a:lnTo>
                    <a:pt x="2511679" y="2245995"/>
                  </a:lnTo>
                  <a:lnTo>
                    <a:pt x="1817497" y="2776220"/>
                  </a:lnTo>
                  <a:lnTo>
                    <a:pt x="959358" y="2776220"/>
                  </a:lnTo>
                  <a:lnTo>
                    <a:pt x="265176" y="2245868"/>
                  </a:lnTo>
                  <a:close/>
                </a:path>
              </a:pathLst>
            </a:custGeom>
            <a:solidFill>
              <a:srgbClr val="ED7A07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2387472" y="1766780"/>
            <a:ext cx="1127671" cy="1298042"/>
          </a:xfrm>
          <a:custGeom>
            <a:avLst/>
            <a:gdLst/>
            <a:ahLst/>
            <a:cxnLst/>
            <a:rect l="l" t="t" r="r" b="b"/>
            <a:pathLst>
              <a:path w="1127671" h="1298042">
                <a:moveTo>
                  <a:pt x="0" y="0"/>
                </a:moveTo>
                <a:lnTo>
                  <a:pt x="1127671" y="0"/>
                </a:lnTo>
                <a:lnTo>
                  <a:pt x="1127671" y="1298042"/>
                </a:lnTo>
                <a:lnTo>
                  <a:pt x="0" y="12980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593020" y="8662406"/>
            <a:ext cx="500490" cy="500490"/>
            <a:chOff x="0" y="0"/>
            <a:chExt cx="667320" cy="6673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7258" cy="667385"/>
            </a:xfrm>
            <a:custGeom>
              <a:avLst/>
              <a:gdLst/>
              <a:ahLst/>
              <a:cxnLst/>
              <a:rect l="l" t="t" r="r" b="b"/>
              <a:pathLst>
                <a:path w="667258" h="667385">
                  <a:moveTo>
                    <a:pt x="333629" y="0"/>
                  </a:moveTo>
                  <a:lnTo>
                    <a:pt x="304165" y="129032"/>
                  </a:lnTo>
                  <a:cubicBezTo>
                    <a:pt x="282067" y="215646"/>
                    <a:pt x="215646" y="281940"/>
                    <a:pt x="129032" y="304165"/>
                  </a:cubicBezTo>
                  <a:lnTo>
                    <a:pt x="0" y="333629"/>
                  </a:lnTo>
                  <a:lnTo>
                    <a:pt x="129032" y="364998"/>
                  </a:lnTo>
                  <a:cubicBezTo>
                    <a:pt x="215646" y="385318"/>
                    <a:pt x="282067" y="453517"/>
                    <a:pt x="304165" y="540131"/>
                  </a:cubicBezTo>
                  <a:lnTo>
                    <a:pt x="333629" y="667385"/>
                  </a:lnTo>
                  <a:lnTo>
                    <a:pt x="364998" y="540131"/>
                  </a:lnTo>
                  <a:cubicBezTo>
                    <a:pt x="385318" y="453517"/>
                    <a:pt x="453517" y="385318"/>
                    <a:pt x="540131" y="364998"/>
                  </a:cubicBezTo>
                  <a:lnTo>
                    <a:pt x="667258" y="333629"/>
                  </a:lnTo>
                  <a:lnTo>
                    <a:pt x="540131" y="304165"/>
                  </a:lnTo>
                  <a:cubicBezTo>
                    <a:pt x="453517" y="282067"/>
                    <a:pt x="385318" y="215646"/>
                    <a:pt x="364998" y="129032"/>
                  </a:cubicBezTo>
                  <a:lnTo>
                    <a:pt x="333629" y="0"/>
                  </a:lnTo>
                  <a:close/>
                </a:path>
              </a:pathLst>
            </a:custGeom>
            <a:solidFill>
              <a:srgbClr val="F1EFF2"/>
            </a:solidFill>
          </p:spPr>
        </p:sp>
      </p:grpSp>
      <p:sp>
        <p:nvSpPr>
          <p:cNvPr id="4" name="AutoShape 4"/>
          <p:cNvSpPr/>
          <p:nvPr/>
        </p:nvSpPr>
        <p:spPr>
          <a:xfrm rot="157789">
            <a:off x="1602525" y="1887825"/>
            <a:ext cx="1660749" cy="0"/>
          </a:xfrm>
          <a:prstGeom prst="line">
            <a:avLst/>
          </a:prstGeom>
          <a:ln w="28575" cap="rnd">
            <a:solidFill>
              <a:srgbClr val="ED7A0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0" y="0"/>
            <a:ext cx="504600" cy="10287000"/>
            <a:chOff x="0" y="0"/>
            <a:chExt cx="672800" cy="13716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72846" cy="13716000"/>
            </a:xfrm>
            <a:custGeom>
              <a:avLst/>
              <a:gdLst/>
              <a:ahLst/>
              <a:cxnLst/>
              <a:rect l="l" t="t" r="r" b="b"/>
              <a:pathLst>
                <a:path w="672846" h="13716000">
                  <a:moveTo>
                    <a:pt x="0" y="0"/>
                  </a:moveTo>
                  <a:lnTo>
                    <a:pt x="672846" y="0"/>
                  </a:lnTo>
                  <a:lnTo>
                    <a:pt x="672846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ED7A07">
                    <a:alpha val="100000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5400002"/>
            </a:gradFill>
          </p:spPr>
        </p:sp>
      </p:grpSp>
      <p:grpSp>
        <p:nvGrpSpPr>
          <p:cNvPr id="7" name="Group 7"/>
          <p:cNvGrpSpPr/>
          <p:nvPr/>
        </p:nvGrpSpPr>
        <p:grpSpPr>
          <a:xfrm rot="-448633">
            <a:off x="7704036" y="5984150"/>
            <a:ext cx="5436024" cy="5434834"/>
            <a:chOff x="0" y="0"/>
            <a:chExt cx="7248032" cy="724644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248017" cy="7246493"/>
            </a:xfrm>
            <a:custGeom>
              <a:avLst/>
              <a:gdLst/>
              <a:ahLst/>
              <a:cxnLst/>
              <a:rect l="l" t="t" r="r" b="b"/>
              <a:pathLst>
                <a:path w="7248017" h="7246493">
                  <a:moveTo>
                    <a:pt x="0" y="3623183"/>
                  </a:moveTo>
                  <a:lnTo>
                    <a:pt x="692150" y="1383919"/>
                  </a:lnTo>
                  <a:lnTo>
                    <a:pt x="2504186" y="0"/>
                  </a:lnTo>
                  <a:lnTo>
                    <a:pt x="4743958" y="0"/>
                  </a:lnTo>
                  <a:lnTo>
                    <a:pt x="6555867" y="1383919"/>
                  </a:lnTo>
                  <a:lnTo>
                    <a:pt x="7248017" y="3623183"/>
                  </a:lnTo>
                  <a:lnTo>
                    <a:pt x="6555867" y="5862447"/>
                  </a:lnTo>
                  <a:lnTo>
                    <a:pt x="4743958" y="7246493"/>
                  </a:lnTo>
                  <a:lnTo>
                    <a:pt x="2504186" y="7246493"/>
                  </a:lnTo>
                  <a:lnTo>
                    <a:pt x="692150" y="5862447"/>
                  </a:lnTo>
                  <a:close/>
                </a:path>
              </a:pathLst>
            </a:custGeom>
            <a:solidFill>
              <a:srgbClr val="ED7A07">
                <a:alpha val="27843"/>
              </a:srgbClr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4855626" y="856348"/>
            <a:ext cx="2082600" cy="2082000"/>
            <a:chOff x="0" y="0"/>
            <a:chExt cx="2776800" cy="2776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76855" cy="2776220"/>
            </a:xfrm>
            <a:custGeom>
              <a:avLst/>
              <a:gdLst/>
              <a:ahLst/>
              <a:cxnLst/>
              <a:rect l="l" t="t" r="r" b="b"/>
              <a:pathLst>
                <a:path w="2776855" h="2776220">
                  <a:moveTo>
                    <a:pt x="0" y="1387983"/>
                  </a:moveTo>
                  <a:lnTo>
                    <a:pt x="265176" y="530225"/>
                  </a:lnTo>
                  <a:lnTo>
                    <a:pt x="959358" y="0"/>
                  </a:lnTo>
                  <a:lnTo>
                    <a:pt x="1817497" y="0"/>
                  </a:lnTo>
                  <a:lnTo>
                    <a:pt x="2511679" y="530225"/>
                  </a:lnTo>
                  <a:lnTo>
                    <a:pt x="2776855" y="1388110"/>
                  </a:lnTo>
                  <a:lnTo>
                    <a:pt x="2511679" y="2245995"/>
                  </a:lnTo>
                  <a:lnTo>
                    <a:pt x="1817497" y="2776220"/>
                  </a:lnTo>
                  <a:lnTo>
                    <a:pt x="959358" y="2776220"/>
                  </a:lnTo>
                  <a:lnTo>
                    <a:pt x="265176" y="2245868"/>
                  </a:lnTo>
                  <a:close/>
                </a:path>
              </a:pathLst>
            </a:custGeom>
            <a:solidFill>
              <a:srgbClr val="ED7A07"/>
            </a:solidFill>
          </p:spPr>
        </p:sp>
      </p:grpSp>
      <p:sp>
        <p:nvSpPr>
          <p:cNvPr id="11" name="Freeform 11"/>
          <p:cNvSpPr/>
          <p:nvPr/>
        </p:nvSpPr>
        <p:spPr>
          <a:xfrm>
            <a:off x="15296817" y="1319073"/>
            <a:ext cx="1205615" cy="1204110"/>
          </a:xfrm>
          <a:custGeom>
            <a:avLst/>
            <a:gdLst/>
            <a:ahLst/>
            <a:cxnLst/>
            <a:rect l="l" t="t" r="r" b="b"/>
            <a:pathLst>
              <a:path w="1205615" h="1204110">
                <a:moveTo>
                  <a:pt x="0" y="0"/>
                </a:moveTo>
                <a:lnTo>
                  <a:pt x="1205616" y="0"/>
                </a:lnTo>
                <a:lnTo>
                  <a:pt x="1205616" y="1204110"/>
                </a:lnTo>
                <a:lnTo>
                  <a:pt x="0" y="1204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3379070" y="1300023"/>
            <a:ext cx="13213950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00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Engenharia de Requisitos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48625" y="3241328"/>
            <a:ext cx="4333350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Funcionais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41475" y="4442831"/>
            <a:ext cx="5053275" cy="421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7044" lvl="1" indent="-273522" algn="l">
              <a:lnSpc>
                <a:spcPts val="3040"/>
              </a:lnSpc>
              <a:buFont typeface="Arial"/>
              <a:buChar char="•"/>
            </a:pPr>
            <a:r>
              <a:rPr lang="en-US" sz="253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vendedor poderá cadastrar novos produtos no sistema.</a:t>
            </a:r>
          </a:p>
          <a:p>
            <a:pPr marL="547044" lvl="1" indent="-273522" algn="l">
              <a:lnSpc>
                <a:spcPts val="3040"/>
              </a:lnSpc>
              <a:buFont typeface="Arial"/>
              <a:buChar char="•"/>
            </a:pPr>
            <a:r>
              <a:rPr lang="en-US" sz="253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vendedor poderá editar informações de produtos já cadastrados.</a:t>
            </a:r>
          </a:p>
          <a:p>
            <a:pPr marL="547044" lvl="1" indent="-273522" algn="l">
              <a:lnSpc>
                <a:spcPts val="3040"/>
              </a:lnSpc>
              <a:buFont typeface="Arial"/>
              <a:buChar char="•"/>
            </a:pPr>
            <a:r>
              <a:rPr lang="en-US" sz="253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cliente poderá visualizar os produtos disponíveis.</a:t>
            </a:r>
          </a:p>
          <a:p>
            <a:pPr marL="547044" lvl="1" indent="-273522" algn="l">
              <a:lnSpc>
                <a:spcPts val="3040"/>
              </a:lnSpc>
              <a:buFont typeface="Arial"/>
              <a:buChar char="•"/>
            </a:pPr>
            <a:r>
              <a:rPr lang="en-US" sz="253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usuário fará o seu próprio cadastro.</a:t>
            </a:r>
          </a:p>
          <a:p>
            <a:pPr algn="l">
              <a:lnSpc>
                <a:spcPts val="3040"/>
              </a:lnSpc>
            </a:pPr>
            <a:endParaRPr lang="en-US" sz="2533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977325" y="3241328"/>
            <a:ext cx="4333350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Não-Funcionais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45537" y="4357106"/>
            <a:ext cx="5044249" cy="498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1" lvl="1" indent="-269876" algn="l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sistema deve funcionar em dispositivos móveis.</a:t>
            </a:r>
          </a:p>
          <a:p>
            <a:pPr marL="539751" lvl="1" indent="-269876" algn="l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Em caso de falho, o sistema deve se recuperar em até 5 minutos.</a:t>
            </a:r>
          </a:p>
          <a:p>
            <a:pPr marL="539751" lvl="1" indent="-269876" algn="l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Todas as operações devem ser registradas com data e hora.</a:t>
            </a:r>
          </a:p>
          <a:p>
            <a:pPr marL="539751" lvl="1" indent="-269876" algn="l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sistema deve exibir mensagens de erros claras e compreensíveis em caso de falha.</a:t>
            </a:r>
          </a:p>
          <a:p>
            <a:pPr algn="l">
              <a:lnSpc>
                <a:spcPts val="3000"/>
              </a:lnSpc>
            </a:pPr>
            <a:endParaRPr lang="en-US" sz="25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2412070" y="3269903"/>
            <a:ext cx="4333350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De Domínio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135823" y="4385681"/>
            <a:ext cx="5817874" cy="536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1" lvl="1" indent="-269876" algn="l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É obrigatório informar se o produto é novo, seminovo ou usado.</a:t>
            </a:r>
          </a:p>
          <a:p>
            <a:pPr marL="539751" lvl="1" indent="-269876" algn="l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Todas as compras deve ser realizadas para maiores de 18 anos.</a:t>
            </a:r>
          </a:p>
          <a:p>
            <a:pPr marL="539751" lvl="1" indent="-269876" algn="l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cliente tem até 7 dias corridos para solicitar troca ou devolução de um produto.</a:t>
            </a:r>
          </a:p>
          <a:p>
            <a:pPr marL="539751" lvl="1" indent="-269876" algn="l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Vendedores devem atualizar o status de envio em até 48 horas após a confirmação de pagamento.</a:t>
            </a:r>
          </a:p>
          <a:p>
            <a:pPr algn="l">
              <a:lnSpc>
                <a:spcPts val="3000"/>
              </a:lnSpc>
            </a:pPr>
            <a:endParaRPr lang="en-US" sz="25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504600" cy="10287000"/>
            <a:chOff x="0" y="0"/>
            <a:chExt cx="6728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72846" cy="13716000"/>
            </a:xfrm>
            <a:custGeom>
              <a:avLst/>
              <a:gdLst/>
              <a:ahLst/>
              <a:cxnLst/>
              <a:rect l="l" t="t" r="r" b="b"/>
              <a:pathLst>
                <a:path w="672846" h="13716000">
                  <a:moveTo>
                    <a:pt x="0" y="0"/>
                  </a:moveTo>
                  <a:lnTo>
                    <a:pt x="672846" y="0"/>
                  </a:lnTo>
                  <a:lnTo>
                    <a:pt x="672846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ED7A07">
                    <a:alpha val="100000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5400002"/>
            </a:gradFill>
          </p:spPr>
        </p:sp>
      </p:grpSp>
      <p:grpSp>
        <p:nvGrpSpPr>
          <p:cNvPr id="4" name="Group 4"/>
          <p:cNvGrpSpPr/>
          <p:nvPr/>
        </p:nvGrpSpPr>
        <p:grpSpPr>
          <a:xfrm>
            <a:off x="9734874" y="6211783"/>
            <a:ext cx="7398458" cy="382410"/>
            <a:chOff x="0" y="0"/>
            <a:chExt cx="7470592" cy="38613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470649" cy="386080"/>
            </a:xfrm>
            <a:custGeom>
              <a:avLst/>
              <a:gdLst/>
              <a:ahLst/>
              <a:cxnLst/>
              <a:rect l="l" t="t" r="r" b="b"/>
              <a:pathLst>
                <a:path w="7470649" h="386080">
                  <a:moveTo>
                    <a:pt x="16256" y="0"/>
                  </a:moveTo>
                  <a:lnTo>
                    <a:pt x="0" y="386080"/>
                  </a:lnTo>
                  <a:lnTo>
                    <a:pt x="7454392" y="344678"/>
                  </a:lnTo>
                  <a:lnTo>
                    <a:pt x="7470649" y="55118"/>
                  </a:lnTo>
                  <a:close/>
                </a:path>
              </a:pathLst>
            </a:custGeom>
            <a:solidFill>
              <a:srgbClr val="ED7A0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7755400" y="4455574"/>
            <a:ext cx="10532600" cy="2460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27"/>
              </a:lnSpc>
            </a:pPr>
            <a:r>
              <a:rPr lang="en-US" sz="123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         Diagramas de Caso de Uso</a:t>
            </a:r>
          </a:p>
        </p:txBody>
      </p:sp>
      <p:grpSp>
        <p:nvGrpSpPr>
          <p:cNvPr id="7" name="Group 7"/>
          <p:cNvGrpSpPr/>
          <p:nvPr/>
        </p:nvGrpSpPr>
        <p:grpSpPr>
          <a:xfrm rot="-448633">
            <a:off x="1342460" y="5476300"/>
            <a:ext cx="5436024" cy="5434834"/>
            <a:chOff x="0" y="0"/>
            <a:chExt cx="7248032" cy="724644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248017" cy="7246493"/>
            </a:xfrm>
            <a:custGeom>
              <a:avLst/>
              <a:gdLst/>
              <a:ahLst/>
              <a:cxnLst/>
              <a:rect l="l" t="t" r="r" b="b"/>
              <a:pathLst>
                <a:path w="7248017" h="7246493">
                  <a:moveTo>
                    <a:pt x="0" y="3623183"/>
                  </a:moveTo>
                  <a:lnTo>
                    <a:pt x="692150" y="1383919"/>
                  </a:lnTo>
                  <a:lnTo>
                    <a:pt x="2504186" y="0"/>
                  </a:lnTo>
                  <a:lnTo>
                    <a:pt x="4743958" y="0"/>
                  </a:lnTo>
                  <a:lnTo>
                    <a:pt x="6555867" y="1383919"/>
                  </a:lnTo>
                  <a:lnTo>
                    <a:pt x="7248017" y="3623183"/>
                  </a:lnTo>
                  <a:lnTo>
                    <a:pt x="6555867" y="5862447"/>
                  </a:lnTo>
                  <a:lnTo>
                    <a:pt x="4743958" y="7246493"/>
                  </a:lnTo>
                  <a:lnTo>
                    <a:pt x="2504186" y="7246493"/>
                  </a:lnTo>
                  <a:lnTo>
                    <a:pt x="692150" y="5862447"/>
                  </a:lnTo>
                  <a:close/>
                </a:path>
              </a:pathLst>
            </a:custGeom>
            <a:solidFill>
              <a:srgbClr val="ED7A07">
                <a:alpha val="27843"/>
              </a:srgbClr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7369725" y="515562"/>
            <a:ext cx="4069614" cy="404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0"/>
              </a:lnSpc>
            </a:pPr>
            <a:r>
              <a:rPr lang="en-US" sz="25000">
                <a:solidFill>
                  <a:srgbClr val="ED7A07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55400" y="7193592"/>
            <a:ext cx="5746950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visão das interações possíveis</a:t>
            </a:r>
          </a:p>
        </p:txBody>
      </p:sp>
      <p:sp>
        <p:nvSpPr>
          <p:cNvPr id="11" name="AutoShape 11"/>
          <p:cNvSpPr/>
          <p:nvPr/>
        </p:nvSpPr>
        <p:spPr>
          <a:xfrm rot="211568">
            <a:off x="7537806" y="4729887"/>
            <a:ext cx="2477891" cy="0"/>
          </a:xfrm>
          <a:prstGeom prst="line">
            <a:avLst/>
          </a:prstGeom>
          <a:ln w="57150" cap="rnd">
            <a:solidFill>
              <a:srgbClr val="ED7A0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>
            <a:off x="1912400" y="1374798"/>
            <a:ext cx="2082600" cy="2082000"/>
            <a:chOff x="0" y="0"/>
            <a:chExt cx="2776800" cy="2776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776855" cy="2776220"/>
            </a:xfrm>
            <a:custGeom>
              <a:avLst/>
              <a:gdLst/>
              <a:ahLst/>
              <a:cxnLst/>
              <a:rect l="l" t="t" r="r" b="b"/>
              <a:pathLst>
                <a:path w="2776855" h="2776220">
                  <a:moveTo>
                    <a:pt x="0" y="1387983"/>
                  </a:moveTo>
                  <a:lnTo>
                    <a:pt x="265176" y="530225"/>
                  </a:lnTo>
                  <a:lnTo>
                    <a:pt x="959358" y="0"/>
                  </a:lnTo>
                  <a:lnTo>
                    <a:pt x="1817497" y="0"/>
                  </a:lnTo>
                  <a:lnTo>
                    <a:pt x="2511679" y="530225"/>
                  </a:lnTo>
                  <a:lnTo>
                    <a:pt x="2776855" y="1388110"/>
                  </a:lnTo>
                  <a:lnTo>
                    <a:pt x="2511679" y="2245995"/>
                  </a:lnTo>
                  <a:lnTo>
                    <a:pt x="1817497" y="2776220"/>
                  </a:lnTo>
                  <a:lnTo>
                    <a:pt x="959358" y="2776220"/>
                  </a:lnTo>
                  <a:lnTo>
                    <a:pt x="265176" y="2245868"/>
                  </a:lnTo>
                  <a:close/>
                </a:path>
              </a:pathLst>
            </a:custGeom>
            <a:solidFill>
              <a:srgbClr val="ED7A07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2387472" y="1766780"/>
            <a:ext cx="1127671" cy="1298042"/>
          </a:xfrm>
          <a:custGeom>
            <a:avLst/>
            <a:gdLst/>
            <a:ahLst/>
            <a:cxnLst/>
            <a:rect l="l" t="t" r="r" b="b"/>
            <a:pathLst>
              <a:path w="1127671" h="1298042">
                <a:moveTo>
                  <a:pt x="0" y="0"/>
                </a:moveTo>
                <a:lnTo>
                  <a:pt x="1127671" y="0"/>
                </a:lnTo>
                <a:lnTo>
                  <a:pt x="1127671" y="1298042"/>
                </a:lnTo>
                <a:lnTo>
                  <a:pt x="0" y="12980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448633">
            <a:off x="835186" y="5578550"/>
            <a:ext cx="5436024" cy="5434834"/>
            <a:chOff x="0" y="0"/>
            <a:chExt cx="7248032" cy="72464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248017" cy="7246493"/>
            </a:xfrm>
            <a:custGeom>
              <a:avLst/>
              <a:gdLst/>
              <a:ahLst/>
              <a:cxnLst/>
              <a:rect l="l" t="t" r="r" b="b"/>
              <a:pathLst>
                <a:path w="7248017" h="7246493">
                  <a:moveTo>
                    <a:pt x="0" y="3623183"/>
                  </a:moveTo>
                  <a:lnTo>
                    <a:pt x="692150" y="1383919"/>
                  </a:lnTo>
                  <a:lnTo>
                    <a:pt x="2504186" y="0"/>
                  </a:lnTo>
                  <a:lnTo>
                    <a:pt x="4743958" y="0"/>
                  </a:lnTo>
                  <a:lnTo>
                    <a:pt x="6555867" y="1383919"/>
                  </a:lnTo>
                  <a:lnTo>
                    <a:pt x="7248017" y="3623183"/>
                  </a:lnTo>
                  <a:lnTo>
                    <a:pt x="6555867" y="5862447"/>
                  </a:lnTo>
                  <a:lnTo>
                    <a:pt x="4743958" y="7246493"/>
                  </a:lnTo>
                  <a:lnTo>
                    <a:pt x="2504186" y="7246493"/>
                  </a:lnTo>
                  <a:lnTo>
                    <a:pt x="692150" y="5862447"/>
                  </a:lnTo>
                  <a:close/>
                </a:path>
              </a:pathLst>
            </a:custGeom>
            <a:solidFill>
              <a:srgbClr val="ED7A07">
                <a:alpha val="27843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504600" cy="10287000"/>
            <a:chOff x="0" y="0"/>
            <a:chExt cx="6728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72846" cy="13716000"/>
            </a:xfrm>
            <a:custGeom>
              <a:avLst/>
              <a:gdLst/>
              <a:ahLst/>
              <a:cxnLst/>
              <a:rect l="l" t="t" r="r" b="b"/>
              <a:pathLst>
                <a:path w="672846" h="13716000">
                  <a:moveTo>
                    <a:pt x="0" y="0"/>
                  </a:moveTo>
                  <a:lnTo>
                    <a:pt x="672846" y="0"/>
                  </a:lnTo>
                  <a:lnTo>
                    <a:pt x="672846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ED7A07">
                    <a:alpha val="100000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5400002"/>
            </a:gradFill>
          </p:spPr>
        </p:sp>
      </p:grpSp>
      <p:sp>
        <p:nvSpPr>
          <p:cNvPr id="6" name="Freeform 6"/>
          <p:cNvSpPr/>
          <p:nvPr/>
        </p:nvSpPr>
        <p:spPr>
          <a:xfrm>
            <a:off x="2543241" y="840509"/>
            <a:ext cx="14139762" cy="8605982"/>
          </a:xfrm>
          <a:custGeom>
            <a:avLst/>
            <a:gdLst/>
            <a:ahLst/>
            <a:cxnLst/>
            <a:rect l="l" t="t" r="r" b="b"/>
            <a:pathLst>
              <a:path w="14139762" h="8605982">
                <a:moveTo>
                  <a:pt x="0" y="0"/>
                </a:moveTo>
                <a:lnTo>
                  <a:pt x="14139763" y="0"/>
                </a:lnTo>
                <a:lnTo>
                  <a:pt x="14139763" y="8605982"/>
                </a:lnTo>
                <a:lnTo>
                  <a:pt x="0" y="86059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448633">
            <a:off x="835186" y="5578550"/>
            <a:ext cx="5436024" cy="5434834"/>
            <a:chOff x="0" y="0"/>
            <a:chExt cx="7248032" cy="72464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248017" cy="7246493"/>
            </a:xfrm>
            <a:custGeom>
              <a:avLst/>
              <a:gdLst/>
              <a:ahLst/>
              <a:cxnLst/>
              <a:rect l="l" t="t" r="r" b="b"/>
              <a:pathLst>
                <a:path w="7248017" h="7246493">
                  <a:moveTo>
                    <a:pt x="0" y="3623183"/>
                  </a:moveTo>
                  <a:lnTo>
                    <a:pt x="692150" y="1383919"/>
                  </a:lnTo>
                  <a:lnTo>
                    <a:pt x="2504186" y="0"/>
                  </a:lnTo>
                  <a:lnTo>
                    <a:pt x="4743958" y="0"/>
                  </a:lnTo>
                  <a:lnTo>
                    <a:pt x="6555867" y="1383919"/>
                  </a:lnTo>
                  <a:lnTo>
                    <a:pt x="7248017" y="3623183"/>
                  </a:lnTo>
                  <a:lnTo>
                    <a:pt x="6555867" y="5862447"/>
                  </a:lnTo>
                  <a:lnTo>
                    <a:pt x="4743958" y="7246493"/>
                  </a:lnTo>
                  <a:lnTo>
                    <a:pt x="2504186" y="7246493"/>
                  </a:lnTo>
                  <a:lnTo>
                    <a:pt x="692150" y="5862447"/>
                  </a:lnTo>
                  <a:close/>
                </a:path>
              </a:pathLst>
            </a:custGeom>
            <a:solidFill>
              <a:srgbClr val="ED7A07">
                <a:alpha val="27843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504600" cy="10287000"/>
            <a:chOff x="0" y="0"/>
            <a:chExt cx="6728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72846" cy="13716000"/>
            </a:xfrm>
            <a:custGeom>
              <a:avLst/>
              <a:gdLst/>
              <a:ahLst/>
              <a:cxnLst/>
              <a:rect l="l" t="t" r="r" b="b"/>
              <a:pathLst>
                <a:path w="672846" h="13716000">
                  <a:moveTo>
                    <a:pt x="0" y="0"/>
                  </a:moveTo>
                  <a:lnTo>
                    <a:pt x="672846" y="0"/>
                  </a:lnTo>
                  <a:lnTo>
                    <a:pt x="672846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ED7A07">
                    <a:alpha val="100000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5400002"/>
            </a:gradFill>
          </p:spPr>
        </p:sp>
      </p:grpSp>
      <p:sp>
        <p:nvSpPr>
          <p:cNvPr id="6" name="Freeform 6"/>
          <p:cNvSpPr/>
          <p:nvPr/>
        </p:nvSpPr>
        <p:spPr>
          <a:xfrm>
            <a:off x="2229386" y="474663"/>
            <a:ext cx="14721057" cy="9337673"/>
          </a:xfrm>
          <a:custGeom>
            <a:avLst/>
            <a:gdLst/>
            <a:ahLst/>
            <a:cxnLst/>
            <a:rect l="l" t="t" r="r" b="b"/>
            <a:pathLst>
              <a:path w="14721057" h="9337673">
                <a:moveTo>
                  <a:pt x="0" y="0"/>
                </a:moveTo>
                <a:lnTo>
                  <a:pt x="14721057" y="0"/>
                </a:lnTo>
                <a:lnTo>
                  <a:pt x="14721057" y="9337674"/>
                </a:lnTo>
                <a:lnTo>
                  <a:pt x="0" y="93376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448633">
            <a:off x="835186" y="5578550"/>
            <a:ext cx="5436024" cy="5434834"/>
            <a:chOff x="0" y="0"/>
            <a:chExt cx="7248032" cy="72464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248017" cy="7246493"/>
            </a:xfrm>
            <a:custGeom>
              <a:avLst/>
              <a:gdLst/>
              <a:ahLst/>
              <a:cxnLst/>
              <a:rect l="l" t="t" r="r" b="b"/>
              <a:pathLst>
                <a:path w="7248017" h="7246493">
                  <a:moveTo>
                    <a:pt x="0" y="3623183"/>
                  </a:moveTo>
                  <a:lnTo>
                    <a:pt x="692150" y="1383919"/>
                  </a:lnTo>
                  <a:lnTo>
                    <a:pt x="2504186" y="0"/>
                  </a:lnTo>
                  <a:lnTo>
                    <a:pt x="4743958" y="0"/>
                  </a:lnTo>
                  <a:lnTo>
                    <a:pt x="6555867" y="1383919"/>
                  </a:lnTo>
                  <a:lnTo>
                    <a:pt x="7248017" y="3623183"/>
                  </a:lnTo>
                  <a:lnTo>
                    <a:pt x="6555867" y="5862447"/>
                  </a:lnTo>
                  <a:lnTo>
                    <a:pt x="4743958" y="7246493"/>
                  </a:lnTo>
                  <a:lnTo>
                    <a:pt x="2504186" y="7246493"/>
                  </a:lnTo>
                  <a:lnTo>
                    <a:pt x="692150" y="5862447"/>
                  </a:lnTo>
                  <a:close/>
                </a:path>
              </a:pathLst>
            </a:custGeom>
            <a:solidFill>
              <a:srgbClr val="ED7A07">
                <a:alpha val="27843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504600" cy="10287000"/>
            <a:chOff x="0" y="0"/>
            <a:chExt cx="6728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72846" cy="13716000"/>
            </a:xfrm>
            <a:custGeom>
              <a:avLst/>
              <a:gdLst/>
              <a:ahLst/>
              <a:cxnLst/>
              <a:rect l="l" t="t" r="r" b="b"/>
              <a:pathLst>
                <a:path w="672846" h="13716000">
                  <a:moveTo>
                    <a:pt x="0" y="0"/>
                  </a:moveTo>
                  <a:lnTo>
                    <a:pt x="672846" y="0"/>
                  </a:lnTo>
                  <a:lnTo>
                    <a:pt x="672846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ED7A07">
                    <a:alpha val="100000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5400002"/>
            </a:gradFill>
          </p:spPr>
        </p:sp>
      </p:grpSp>
      <p:sp>
        <p:nvSpPr>
          <p:cNvPr id="6" name="Freeform 6"/>
          <p:cNvSpPr/>
          <p:nvPr/>
        </p:nvSpPr>
        <p:spPr>
          <a:xfrm>
            <a:off x="3759952" y="387562"/>
            <a:ext cx="11647568" cy="9511876"/>
          </a:xfrm>
          <a:custGeom>
            <a:avLst/>
            <a:gdLst/>
            <a:ahLst/>
            <a:cxnLst/>
            <a:rect l="l" t="t" r="r" b="b"/>
            <a:pathLst>
              <a:path w="11647568" h="9511876">
                <a:moveTo>
                  <a:pt x="0" y="0"/>
                </a:moveTo>
                <a:lnTo>
                  <a:pt x="11647568" y="0"/>
                </a:lnTo>
                <a:lnTo>
                  <a:pt x="11647568" y="9511876"/>
                </a:lnTo>
                <a:lnTo>
                  <a:pt x="0" y="95118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70" r="-1230" b="-270"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504600" cy="10287000"/>
            <a:chOff x="0" y="0"/>
            <a:chExt cx="6728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72846" cy="13716000"/>
            </a:xfrm>
            <a:custGeom>
              <a:avLst/>
              <a:gdLst/>
              <a:ahLst/>
              <a:cxnLst/>
              <a:rect l="l" t="t" r="r" b="b"/>
              <a:pathLst>
                <a:path w="672846" h="13716000">
                  <a:moveTo>
                    <a:pt x="0" y="0"/>
                  </a:moveTo>
                  <a:lnTo>
                    <a:pt x="672846" y="0"/>
                  </a:lnTo>
                  <a:lnTo>
                    <a:pt x="672846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ED7A07">
                    <a:alpha val="100000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5400002"/>
            </a:gradFill>
          </p:spPr>
        </p:sp>
      </p:grpSp>
      <p:grpSp>
        <p:nvGrpSpPr>
          <p:cNvPr id="4" name="Group 4"/>
          <p:cNvGrpSpPr/>
          <p:nvPr/>
        </p:nvGrpSpPr>
        <p:grpSpPr>
          <a:xfrm>
            <a:off x="7896199" y="6173571"/>
            <a:ext cx="6003464" cy="310306"/>
            <a:chOff x="0" y="0"/>
            <a:chExt cx="7470592" cy="38613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470649" cy="386080"/>
            </a:xfrm>
            <a:custGeom>
              <a:avLst/>
              <a:gdLst/>
              <a:ahLst/>
              <a:cxnLst/>
              <a:rect l="l" t="t" r="r" b="b"/>
              <a:pathLst>
                <a:path w="7470649" h="386080">
                  <a:moveTo>
                    <a:pt x="16256" y="0"/>
                  </a:moveTo>
                  <a:lnTo>
                    <a:pt x="0" y="386080"/>
                  </a:lnTo>
                  <a:lnTo>
                    <a:pt x="7454392" y="344678"/>
                  </a:lnTo>
                  <a:lnTo>
                    <a:pt x="7470649" y="55118"/>
                  </a:lnTo>
                  <a:close/>
                </a:path>
              </a:pathLst>
            </a:custGeom>
            <a:solidFill>
              <a:srgbClr val="ED7A0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7755400" y="4981984"/>
            <a:ext cx="10354363" cy="1275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92"/>
              </a:lnSpc>
            </a:pPr>
            <a:r>
              <a:rPr lang="en-US" sz="11934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         Modelagem</a:t>
            </a:r>
          </a:p>
        </p:txBody>
      </p:sp>
      <p:grpSp>
        <p:nvGrpSpPr>
          <p:cNvPr id="7" name="Group 7"/>
          <p:cNvGrpSpPr/>
          <p:nvPr/>
        </p:nvGrpSpPr>
        <p:grpSpPr>
          <a:xfrm rot="-448633">
            <a:off x="1342460" y="5476300"/>
            <a:ext cx="5436024" cy="5434834"/>
            <a:chOff x="0" y="0"/>
            <a:chExt cx="7248032" cy="724644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248017" cy="7246493"/>
            </a:xfrm>
            <a:custGeom>
              <a:avLst/>
              <a:gdLst/>
              <a:ahLst/>
              <a:cxnLst/>
              <a:rect l="l" t="t" r="r" b="b"/>
              <a:pathLst>
                <a:path w="7248017" h="7246493">
                  <a:moveTo>
                    <a:pt x="0" y="3623183"/>
                  </a:moveTo>
                  <a:lnTo>
                    <a:pt x="692150" y="1383919"/>
                  </a:lnTo>
                  <a:lnTo>
                    <a:pt x="2504186" y="0"/>
                  </a:lnTo>
                  <a:lnTo>
                    <a:pt x="4743958" y="0"/>
                  </a:lnTo>
                  <a:lnTo>
                    <a:pt x="6555867" y="1383919"/>
                  </a:lnTo>
                  <a:lnTo>
                    <a:pt x="7248017" y="3623183"/>
                  </a:lnTo>
                  <a:lnTo>
                    <a:pt x="6555867" y="5862447"/>
                  </a:lnTo>
                  <a:lnTo>
                    <a:pt x="4743958" y="7246493"/>
                  </a:lnTo>
                  <a:lnTo>
                    <a:pt x="2504186" y="7246493"/>
                  </a:lnTo>
                  <a:lnTo>
                    <a:pt x="692150" y="5862447"/>
                  </a:lnTo>
                  <a:close/>
                </a:path>
              </a:pathLst>
            </a:custGeom>
            <a:solidFill>
              <a:srgbClr val="ED7A07">
                <a:alpha val="27843"/>
              </a:srgbClr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7369725" y="515562"/>
            <a:ext cx="4069614" cy="404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0"/>
              </a:lnSpc>
            </a:pPr>
            <a:r>
              <a:rPr lang="en-US" sz="25000">
                <a:solidFill>
                  <a:srgbClr val="ED7A07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896199" y="7193592"/>
            <a:ext cx="6353305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Ferramentas e tecnologias aplicadas no desenvolvimento</a:t>
            </a:r>
          </a:p>
        </p:txBody>
      </p:sp>
      <p:sp>
        <p:nvSpPr>
          <p:cNvPr id="11" name="AutoShape 11"/>
          <p:cNvSpPr/>
          <p:nvPr/>
        </p:nvSpPr>
        <p:spPr>
          <a:xfrm rot="211568">
            <a:off x="7537806" y="4729887"/>
            <a:ext cx="2477891" cy="0"/>
          </a:xfrm>
          <a:prstGeom prst="line">
            <a:avLst/>
          </a:prstGeom>
          <a:ln w="57150" cap="rnd">
            <a:solidFill>
              <a:srgbClr val="ED7A0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>
            <a:off x="1912400" y="1374798"/>
            <a:ext cx="2082600" cy="2082000"/>
            <a:chOff x="0" y="0"/>
            <a:chExt cx="2776800" cy="2776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776855" cy="2776220"/>
            </a:xfrm>
            <a:custGeom>
              <a:avLst/>
              <a:gdLst/>
              <a:ahLst/>
              <a:cxnLst/>
              <a:rect l="l" t="t" r="r" b="b"/>
              <a:pathLst>
                <a:path w="2776855" h="2776220">
                  <a:moveTo>
                    <a:pt x="0" y="1387983"/>
                  </a:moveTo>
                  <a:lnTo>
                    <a:pt x="265176" y="530225"/>
                  </a:lnTo>
                  <a:lnTo>
                    <a:pt x="959358" y="0"/>
                  </a:lnTo>
                  <a:lnTo>
                    <a:pt x="1817497" y="0"/>
                  </a:lnTo>
                  <a:lnTo>
                    <a:pt x="2511679" y="530225"/>
                  </a:lnTo>
                  <a:lnTo>
                    <a:pt x="2776855" y="1388110"/>
                  </a:lnTo>
                  <a:lnTo>
                    <a:pt x="2511679" y="2245995"/>
                  </a:lnTo>
                  <a:lnTo>
                    <a:pt x="1817497" y="2776220"/>
                  </a:lnTo>
                  <a:lnTo>
                    <a:pt x="959358" y="2776220"/>
                  </a:lnTo>
                  <a:lnTo>
                    <a:pt x="265176" y="2245868"/>
                  </a:lnTo>
                  <a:close/>
                </a:path>
              </a:pathLst>
            </a:custGeom>
            <a:solidFill>
              <a:srgbClr val="ED7A07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2387472" y="1766780"/>
            <a:ext cx="1127671" cy="1298042"/>
          </a:xfrm>
          <a:custGeom>
            <a:avLst/>
            <a:gdLst/>
            <a:ahLst/>
            <a:cxnLst/>
            <a:rect l="l" t="t" r="r" b="b"/>
            <a:pathLst>
              <a:path w="1127671" h="1298042">
                <a:moveTo>
                  <a:pt x="0" y="0"/>
                </a:moveTo>
                <a:lnTo>
                  <a:pt x="1127671" y="0"/>
                </a:lnTo>
                <a:lnTo>
                  <a:pt x="1127671" y="1298042"/>
                </a:lnTo>
                <a:lnTo>
                  <a:pt x="0" y="12980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448633">
            <a:off x="835186" y="5578550"/>
            <a:ext cx="5436024" cy="5434834"/>
            <a:chOff x="0" y="0"/>
            <a:chExt cx="7248032" cy="72464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248017" cy="7246493"/>
            </a:xfrm>
            <a:custGeom>
              <a:avLst/>
              <a:gdLst/>
              <a:ahLst/>
              <a:cxnLst/>
              <a:rect l="l" t="t" r="r" b="b"/>
              <a:pathLst>
                <a:path w="7248017" h="7246493">
                  <a:moveTo>
                    <a:pt x="0" y="3623183"/>
                  </a:moveTo>
                  <a:lnTo>
                    <a:pt x="692150" y="1383919"/>
                  </a:lnTo>
                  <a:lnTo>
                    <a:pt x="2504186" y="0"/>
                  </a:lnTo>
                  <a:lnTo>
                    <a:pt x="4743958" y="0"/>
                  </a:lnTo>
                  <a:lnTo>
                    <a:pt x="6555867" y="1383919"/>
                  </a:lnTo>
                  <a:lnTo>
                    <a:pt x="7248017" y="3623183"/>
                  </a:lnTo>
                  <a:lnTo>
                    <a:pt x="6555867" y="5862447"/>
                  </a:lnTo>
                  <a:lnTo>
                    <a:pt x="4743958" y="7246493"/>
                  </a:lnTo>
                  <a:lnTo>
                    <a:pt x="2504186" y="7246493"/>
                  </a:lnTo>
                  <a:lnTo>
                    <a:pt x="692150" y="5862447"/>
                  </a:lnTo>
                  <a:close/>
                </a:path>
              </a:pathLst>
            </a:custGeom>
            <a:solidFill>
              <a:srgbClr val="ED7A07">
                <a:alpha val="27843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504600" cy="10287000"/>
            <a:chOff x="0" y="0"/>
            <a:chExt cx="6728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72846" cy="13716000"/>
            </a:xfrm>
            <a:custGeom>
              <a:avLst/>
              <a:gdLst/>
              <a:ahLst/>
              <a:cxnLst/>
              <a:rect l="l" t="t" r="r" b="b"/>
              <a:pathLst>
                <a:path w="672846" h="13716000">
                  <a:moveTo>
                    <a:pt x="0" y="0"/>
                  </a:moveTo>
                  <a:lnTo>
                    <a:pt x="672846" y="0"/>
                  </a:lnTo>
                  <a:lnTo>
                    <a:pt x="672846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ED7A07">
                    <a:alpha val="100000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5400002"/>
            </a:gradFill>
          </p:spPr>
        </p:sp>
      </p:grpSp>
      <p:sp>
        <p:nvSpPr>
          <p:cNvPr id="6" name="Freeform 6"/>
          <p:cNvSpPr/>
          <p:nvPr/>
        </p:nvSpPr>
        <p:spPr>
          <a:xfrm>
            <a:off x="463781" y="195775"/>
            <a:ext cx="17360438" cy="9895449"/>
          </a:xfrm>
          <a:custGeom>
            <a:avLst/>
            <a:gdLst/>
            <a:ahLst/>
            <a:cxnLst/>
            <a:rect l="l" t="t" r="r" b="b"/>
            <a:pathLst>
              <a:path w="17360438" h="9895449">
                <a:moveTo>
                  <a:pt x="0" y="0"/>
                </a:moveTo>
                <a:lnTo>
                  <a:pt x="17360438" y="0"/>
                </a:lnTo>
                <a:lnTo>
                  <a:pt x="17360438" y="9895450"/>
                </a:lnTo>
                <a:lnTo>
                  <a:pt x="0" y="98954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504600" cy="10287000"/>
            <a:chOff x="0" y="0"/>
            <a:chExt cx="6728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72846" cy="13716000"/>
            </a:xfrm>
            <a:custGeom>
              <a:avLst/>
              <a:gdLst/>
              <a:ahLst/>
              <a:cxnLst/>
              <a:rect l="l" t="t" r="r" b="b"/>
              <a:pathLst>
                <a:path w="672846" h="13716000">
                  <a:moveTo>
                    <a:pt x="0" y="0"/>
                  </a:moveTo>
                  <a:lnTo>
                    <a:pt x="672846" y="0"/>
                  </a:lnTo>
                  <a:lnTo>
                    <a:pt x="672846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ED7A07">
                    <a:alpha val="100000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5400002"/>
            </a:gradFill>
          </p:spPr>
        </p:sp>
      </p:grpSp>
      <p:grpSp>
        <p:nvGrpSpPr>
          <p:cNvPr id="4" name="Group 4"/>
          <p:cNvGrpSpPr/>
          <p:nvPr/>
        </p:nvGrpSpPr>
        <p:grpSpPr>
          <a:xfrm>
            <a:off x="8361755" y="6221856"/>
            <a:ext cx="6049481" cy="312685"/>
            <a:chOff x="0" y="0"/>
            <a:chExt cx="7470592" cy="38613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470649" cy="386080"/>
            </a:xfrm>
            <a:custGeom>
              <a:avLst/>
              <a:gdLst/>
              <a:ahLst/>
              <a:cxnLst/>
              <a:rect l="l" t="t" r="r" b="b"/>
              <a:pathLst>
                <a:path w="7470649" h="386080">
                  <a:moveTo>
                    <a:pt x="16256" y="0"/>
                  </a:moveTo>
                  <a:lnTo>
                    <a:pt x="0" y="386080"/>
                  </a:lnTo>
                  <a:lnTo>
                    <a:pt x="7454392" y="344678"/>
                  </a:lnTo>
                  <a:lnTo>
                    <a:pt x="7470649" y="55118"/>
                  </a:lnTo>
                  <a:close/>
                </a:path>
              </a:pathLst>
            </a:custGeom>
            <a:solidFill>
              <a:srgbClr val="ED7A0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8323655" y="4395948"/>
            <a:ext cx="10094539" cy="2302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47"/>
              </a:lnSpc>
            </a:pPr>
            <a:r>
              <a:rPr lang="en-US" sz="11593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         Tecnologias Utilizadas</a:t>
            </a:r>
          </a:p>
        </p:txBody>
      </p:sp>
      <p:grpSp>
        <p:nvGrpSpPr>
          <p:cNvPr id="7" name="Group 7"/>
          <p:cNvGrpSpPr/>
          <p:nvPr/>
        </p:nvGrpSpPr>
        <p:grpSpPr>
          <a:xfrm rot="-448633">
            <a:off x="1342460" y="5476300"/>
            <a:ext cx="5436024" cy="5434834"/>
            <a:chOff x="0" y="0"/>
            <a:chExt cx="7248032" cy="724644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248017" cy="7246493"/>
            </a:xfrm>
            <a:custGeom>
              <a:avLst/>
              <a:gdLst/>
              <a:ahLst/>
              <a:cxnLst/>
              <a:rect l="l" t="t" r="r" b="b"/>
              <a:pathLst>
                <a:path w="7248017" h="7246493">
                  <a:moveTo>
                    <a:pt x="0" y="3623183"/>
                  </a:moveTo>
                  <a:lnTo>
                    <a:pt x="692150" y="1383919"/>
                  </a:lnTo>
                  <a:lnTo>
                    <a:pt x="2504186" y="0"/>
                  </a:lnTo>
                  <a:lnTo>
                    <a:pt x="4743958" y="0"/>
                  </a:lnTo>
                  <a:lnTo>
                    <a:pt x="6555867" y="1383919"/>
                  </a:lnTo>
                  <a:lnTo>
                    <a:pt x="7248017" y="3623183"/>
                  </a:lnTo>
                  <a:lnTo>
                    <a:pt x="6555867" y="5862447"/>
                  </a:lnTo>
                  <a:lnTo>
                    <a:pt x="4743958" y="7246493"/>
                  </a:lnTo>
                  <a:lnTo>
                    <a:pt x="2504186" y="7246493"/>
                  </a:lnTo>
                  <a:lnTo>
                    <a:pt x="692150" y="5862447"/>
                  </a:lnTo>
                  <a:close/>
                </a:path>
              </a:pathLst>
            </a:custGeom>
            <a:solidFill>
              <a:srgbClr val="ED7A07">
                <a:alpha val="27843"/>
              </a:srgbClr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7369725" y="515562"/>
            <a:ext cx="4069614" cy="404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0"/>
              </a:lnSpc>
            </a:pPr>
            <a:r>
              <a:rPr lang="en-US" sz="25000">
                <a:solidFill>
                  <a:srgbClr val="ED7A07"/>
                </a:solidFill>
                <a:latin typeface="Poppins"/>
                <a:ea typeface="Poppins"/>
                <a:cs typeface="Poppins"/>
                <a:sym typeface="Poppins"/>
              </a:rPr>
              <a:t>06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361755" y="7452169"/>
            <a:ext cx="5746950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que sustenta a solução</a:t>
            </a:r>
          </a:p>
        </p:txBody>
      </p:sp>
      <p:sp>
        <p:nvSpPr>
          <p:cNvPr id="11" name="AutoShape 11"/>
          <p:cNvSpPr/>
          <p:nvPr/>
        </p:nvSpPr>
        <p:spPr>
          <a:xfrm rot="211568">
            <a:off x="7537806" y="4729887"/>
            <a:ext cx="2477891" cy="0"/>
          </a:xfrm>
          <a:prstGeom prst="line">
            <a:avLst/>
          </a:prstGeom>
          <a:ln w="57150" cap="rnd">
            <a:solidFill>
              <a:srgbClr val="ED7A0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>
            <a:off x="1912400" y="1374798"/>
            <a:ext cx="2082600" cy="2082000"/>
            <a:chOff x="0" y="0"/>
            <a:chExt cx="2776800" cy="2776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776855" cy="2776220"/>
            </a:xfrm>
            <a:custGeom>
              <a:avLst/>
              <a:gdLst/>
              <a:ahLst/>
              <a:cxnLst/>
              <a:rect l="l" t="t" r="r" b="b"/>
              <a:pathLst>
                <a:path w="2776855" h="2776220">
                  <a:moveTo>
                    <a:pt x="0" y="1387983"/>
                  </a:moveTo>
                  <a:lnTo>
                    <a:pt x="265176" y="530225"/>
                  </a:lnTo>
                  <a:lnTo>
                    <a:pt x="959358" y="0"/>
                  </a:lnTo>
                  <a:lnTo>
                    <a:pt x="1817497" y="0"/>
                  </a:lnTo>
                  <a:lnTo>
                    <a:pt x="2511679" y="530225"/>
                  </a:lnTo>
                  <a:lnTo>
                    <a:pt x="2776855" y="1388110"/>
                  </a:lnTo>
                  <a:lnTo>
                    <a:pt x="2511679" y="2245995"/>
                  </a:lnTo>
                  <a:lnTo>
                    <a:pt x="1817497" y="2776220"/>
                  </a:lnTo>
                  <a:lnTo>
                    <a:pt x="959358" y="2776220"/>
                  </a:lnTo>
                  <a:lnTo>
                    <a:pt x="265176" y="2245868"/>
                  </a:lnTo>
                  <a:close/>
                </a:path>
              </a:pathLst>
            </a:custGeom>
            <a:solidFill>
              <a:srgbClr val="ED7A07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2387472" y="1766780"/>
            <a:ext cx="1127671" cy="1298042"/>
          </a:xfrm>
          <a:custGeom>
            <a:avLst/>
            <a:gdLst/>
            <a:ahLst/>
            <a:cxnLst/>
            <a:rect l="l" t="t" r="r" b="b"/>
            <a:pathLst>
              <a:path w="1127671" h="1298042">
                <a:moveTo>
                  <a:pt x="0" y="0"/>
                </a:moveTo>
                <a:lnTo>
                  <a:pt x="1127671" y="0"/>
                </a:lnTo>
                <a:lnTo>
                  <a:pt x="1127671" y="1298042"/>
                </a:lnTo>
                <a:lnTo>
                  <a:pt x="0" y="12980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38621" y="7437013"/>
            <a:ext cx="323746" cy="322864"/>
            <a:chOff x="0" y="0"/>
            <a:chExt cx="606741" cy="6050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06679" cy="605028"/>
            </a:xfrm>
            <a:custGeom>
              <a:avLst/>
              <a:gdLst/>
              <a:ahLst/>
              <a:cxnLst/>
              <a:rect l="l" t="t" r="r" b="b"/>
              <a:pathLst>
                <a:path w="606679" h="605028">
                  <a:moveTo>
                    <a:pt x="304165" y="0"/>
                  </a:moveTo>
                  <a:lnTo>
                    <a:pt x="275844" y="115316"/>
                  </a:lnTo>
                  <a:cubicBezTo>
                    <a:pt x="257429" y="193929"/>
                    <a:pt x="195580" y="255778"/>
                    <a:pt x="117094" y="274066"/>
                  </a:cubicBezTo>
                  <a:lnTo>
                    <a:pt x="0" y="300863"/>
                  </a:lnTo>
                  <a:lnTo>
                    <a:pt x="116967" y="329311"/>
                  </a:lnTo>
                  <a:cubicBezTo>
                    <a:pt x="195580" y="347726"/>
                    <a:pt x="257429" y="409575"/>
                    <a:pt x="275717" y="488061"/>
                  </a:cubicBezTo>
                  <a:lnTo>
                    <a:pt x="302514" y="605028"/>
                  </a:lnTo>
                  <a:lnTo>
                    <a:pt x="330962" y="488061"/>
                  </a:lnTo>
                  <a:cubicBezTo>
                    <a:pt x="349377" y="409448"/>
                    <a:pt x="411226" y="347599"/>
                    <a:pt x="489712" y="329311"/>
                  </a:cubicBezTo>
                  <a:lnTo>
                    <a:pt x="606679" y="302514"/>
                  </a:lnTo>
                  <a:lnTo>
                    <a:pt x="489712" y="274066"/>
                  </a:lnTo>
                  <a:cubicBezTo>
                    <a:pt x="411099" y="255651"/>
                    <a:pt x="349250" y="193802"/>
                    <a:pt x="330962" y="115316"/>
                  </a:cubicBezTo>
                  <a:lnTo>
                    <a:pt x="304165" y="0"/>
                  </a:lnTo>
                  <a:close/>
                </a:path>
              </a:pathLst>
            </a:custGeom>
            <a:solidFill>
              <a:srgbClr val="F1EFF2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504600" cy="10287000"/>
            <a:chOff x="0" y="0"/>
            <a:chExt cx="6728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72846" cy="13716000"/>
            </a:xfrm>
            <a:custGeom>
              <a:avLst/>
              <a:gdLst/>
              <a:ahLst/>
              <a:cxnLst/>
              <a:rect l="l" t="t" r="r" b="b"/>
              <a:pathLst>
                <a:path w="672846" h="13716000">
                  <a:moveTo>
                    <a:pt x="0" y="0"/>
                  </a:moveTo>
                  <a:lnTo>
                    <a:pt x="672846" y="0"/>
                  </a:lnTo>
                  <a:lnTo>
                    <a:pt x="672846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ED7A07">
                    <a:alpha val="100000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5400002"/>
            </a:gradFill>
          </p:spPr>
        </p:sp>
      </p:grpSp>
      <p:sp>
        <p:nvSpPr>
          <p:cNvPr id="6" name="Freeform 6"/>
          <p:cNvSpPr/>
          <p:nvPr/>
        </p:nvSpPr>
        <p:spPr>
          <a:xfrm>
            <a:off x="1678062" y="3159452"/>
            <a:ext cx="2067249" cy="2067249"/>
          </a:xfrm>
          <a:custGeom>
            <a:avLst/>
            <a:gdLst/>
            <a:ahLst/>
            <a:cxnLst/>
            <a:rect l="l" t="t" r="r" b="b"/>
            <a:pathLst>
              <a:path w="2067249" h="2067249">
                <a:moveTo>
                  <a:pt x="0" y="0"/>
                </a:moveTo>
                <a:lnTo>
                  <a:pt x="2067249" y="0"/>
                </a:lnTo>
                <a:lnTo>
                  <a:pt x="2067249" y="2067249"/>
                </a:lnTo>
                <a:lnTo>
                  <a:pt x="0" y="20672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120171" y="3159452"/>
            <a:ext cx="2067249" cy="2067249"/>
          </a:xfrm>
          <a:custGeom>
            <a:avLst/>
            <a:gdLst/>
            <a:ahLst/>
            <a:cxnLst/>
            <a:rect l="l" t="t" r="r" b="b"/>
            <a:pathLst>
              <a:path w="2067249" h="2067249">
                <a:moveTo>
                  <a:pt x="0" y="0"/>
                </a:moveTo>
                <a:lnTo>
                  <a:pt x="2067249" y="0"/>
                </a:lnTo>
                <a:lnTo>
                  <a:pt x="2067249" y="2067249"/>
                </a:lnTo>
                <a:lnTo>
                  <a:pt x="0" y="20672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70947" y="5376652"/>
            <a:ext cx="2274364" cy="2274364"/>
          </a:xfrm>
          <a:custGeom>
            <a:avLst/>
            <a:gdLst/>
            <a:ahLst/>
            <a:cxnLst/>
            <a:rect l="l" t="t" r="r" b="b"/>
            <a:pathLst>
              <a:path w="2274364" h="2274364">
                <a:moveTo>
                  <a:pt x="0" y="0"/>
                </a:moveTo>
                <a:lnTo>
                  <a:pt x="2274364" y="0"/>
                </a:lnTo>
                <a:lnTo>
                  <a:pt x="2274364" y="2274364"/>
                </a:lnTo>
                <a:lnTo>
                  <a:pt x="0" y="22743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483373" y="2827032"/>
            <a:ext cx="2057371" cy="2057371"/>
          </a:xfrm>
          <a:custGeom>
            <a:avLst/>
            <a:gdLst/>
            <a:ahLst/>
            <a:cxnLst/>
            <a:rect l="l" t="t" r="r" b="b"/>
            <a:pathLst>
              <a:path w="2057371" h="2057371">
                <a:moveTo>
                  <a:pt x="0" y="0"/>
                </a:moveTo>
                <a:lnTo>
                  <a:pt x="2057372" y="0"/>
                </a:lnTo>
                <a:lnTo>
                  <a:pt x="2057372" y="2057372"/>
                </a:lnTo>
                <a:lnTo>
                  <a:pt x="0" y="20573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1647070" y="2680996"/>
            <a:ext cx="2349444" cy="2349444"/>
          </a:xfrm>
          <a:custGeom>
            <a:avLst/>
            <a:gdLst/>
            <a:ahLst/>
            <a:cxnLst/>
            <a:rect l="l" t="t" r="r" b="b"/>
            <a:pathLst>
              <a:path w="2349444" h="2349444">
                <a:moveTo>
                  <a:pt x="0" y="0"/>
                </a:moveTo>
                <a:lnTo>
                  <a:pt x="2349444" y="0"/>
                </a:lnTo>
                <a:lnTo>
                  <a:pt x="2349444" y="2349444"/>
                </a:lnTo>
                <a:lnTo>
                  <a:pt x="0" y="23494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621636" y="5750060"/>
            <a:ext cx="1788896" cy="1788896"/>
          </a:xfrm>
          <a:custGeom>
            <a:avLst/>
            <a:gdLst/>
            <a:ahLst/>
            <a:cxnLst/>
            <a:rect l="l" t="t" r="r" b="b"/>
            <a:pathLst>
              <a:path w="1788896" h="1788896">
                <a:moveTo>
                  <a:pt x="0" y="0"/>
                </a:moveTo>
                <a:lnTo>
                  <a:pt x="1788895" y="0"/>
                </a:lnTo>
                <a:lnTo>
                  <a:pt x="1788895" y="1788895"/>
                </a:lnTo>
                <a:lnTo>
                  <a:pt x="0" y="17888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1523064" y="5376652"/>
            <a:ext cx="2473451" cy="2473451"/>
          </a:xfrm>
          <a:custGeom>
            <a:avLst/>
            <a:gdLst/>
            <a:ahLst/>
            <a:cxnLst/>
            <a:rect l="l" t="t" r="r" b="b"/>
            <a:pathLst>
              <a:path w="2473451" h="2473451">
                <a:moveTo>
                  <a:pt x="0" y="0"/>
                </a:moveTo>
                <a:lnTo>
                  <a:pt x="2473450" y="0"/>
                </a:lnTo>
                <a:lnTo>
                  <a:pt x="2473450" y="2473451"/>
                </a:lnTo>
                <a:lnTo>
                  <a:pt x="0" y="247345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4101987" y="5462025"/>
            <a:ext cx="2103618" cy="2103618"/>
          </a:xfrm>
          <a:custGeom>
            <a:avLst/>
            <a:gdLst/>
            <a:ahLst/>
            <a:cxnLst/>
            <a:rect l="l" t="t" r="r" b="b"/>
            <a:pathLst>
              <a:path w="2103618" h="2103618">
                <a:moveTo>
                  <a:pt x="0" y="0"/>
                </a:moveTo>
                <a:lnTo>
                  <a:pt x="2103617" y="0"/>
                </a:lnTo>
                <a:lnTo>
                  <a:pt x="2103617" y="2103618"/>
                </a:lnTo>
                <a:lnTo>
                  <a:pt x="0" y="210361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615730" y="8637146"/>
            <a:ext cx="455056" cy="453816"/>
            <a:chOff x="0" y="0"/>
            <a:chExt cx="606741" cy="6050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06679" cy="605028"/>
            </a:xfrm>
            <a:custGeom>
              <a:avLst/>
              <a:gdLst/>
              <a:ahLst/>
              <a:cxnLst/>
              <a:rect l="l" t="t" r="r" b="b"/>
              <a:pathLst>
                <a:path w="606679" h="605028">
                  <a:moveTo>
                    <a:pt x="304165" y="0"/>
                  </a:moveTo>
                  <a:lnTo>
                    <a:pt x="275844" y="115316"/>
                  </a:lnTo>
                  <a:cubicBezTo>
                    <a:pt x="257429" y="193929"/>
                    <a:pt x="195580" y="255778"/>
                    <a:pt x="117094" y="274066"/>
                  </a:cubicBezTo>
                  <a:lnTo>
                    <a:pt x="0" y="300863"/>
                  </a:lnTo>
                  <a:lnTo>
                    <a:pt x="116967" y="329311"/>
                  </a:lnTo>
                  <a:cubicBezTo>
                    <a:pt x="195580" y="347726"/>
                    <a:pt x="257429" y="409575"/>
                    <a:pt x="275717" y="488061"/>
                  </a:cubicBezTo>
                  <a:lnTo>
                    <a:pt x="302514" y="605028"/>
                  </a:lnTo>
                  <a:lnTo>
                    <a:pt x="330962" y="488061"/>
                  </a:lnTo>
                  <a:cubicBezTo>
                    <a:pt x="349377" y="409448"/>
                    <a:pt x="411226" y="347599"/>
                    <a:pt x="489712" y="329311"/>
                  </a:cubicBezTo>
                  <a:lnTo>
                    <a:pt x="606679" y="302514"/>
                  </a:lnTo>
                  <a:lnTo>
                    <a:pt x="489712" y="274066"/>
                  </a:lnTo>
                  <a:cubicBezTo>
                    <a:pt x="411099" y="255651"/>
                    <a:pt x="349250" y="193802"/>
                    <a:pt x="330962" y="115316"/>
                  </a:cubicBezTo>
                  <a:lnTo>
                    <a:pt x="304165" y="0"/>
                  </a:lnTo>
                  <a:close/>
                </a:path>
              </a:pathLst>
            </a:custGeom>
            <a:solidFill>
              <a:srgbClr val="F1EFF2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504600" cy="10287000"/>
            <a:chOff x="0" y="0"/>
            <a:chExt cx="6728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72846" cy="13716000"/>
            </a:xfrm>
            <a:custGeom>
              <a:avLst/>
              <a:gdLst/>
              <a:ahLst/>
              <a:cxnLst/>
              <a:rect l="l" t="t" r="r" b="b"/>
              <a:pathLst>
                <a:path w="672846" h="13716000">
                  <a:moveTo>
                    <a:pt x="0" y="0"/>
                  </a:moveTo>
                  <a:lnTo>
                    <a:pt x="672846" y="0"/>
                  </a:lnTo>
                  <a:lnTo>
                    <a:pt x="672846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ED7A07">
                    <a:alpha val="100000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5400002"/>
            </a:gradFill>
          </p:spPr>
        </p:sp>
      </p:grpSp>
      <p:sp>
        <p:nvSpPr>
          <p:cNvPr id="6" name="Freeform 6"/>
          <p:cNvSpPr/>
          <p:nvPr/>
        </p:nvSpPr>
        <p:spPr>
          <a:xfrm>
            <a:off x="2177575" y="2627156"/>
            <a:ext cx="2690350" cy="2690350"/>
          </a:xfrm>
          <a:custGeom>
            <a:avLst/>
            <a:gdLst/>
            <a:ahLst/>
            <a:cxnLst/>
            <a:rect l="l" t="t" r="r" b="b"/>
            <a:pathLst>
              <a:path w="2690350" h="2690350">
                <a:moveTo>
                  <a:pt x="0" y="0"/>
                </a:moveTo>
                <a:lnTo>
                  <a:pt x="2690350" y="0"/>
                </a:lnTo>
                <a:lnTo>
                  <a:pt x="2690350" y="2690350"/>
                </a:lnTo>
                <a:lnTo>
                  <a:pt x="0" y="2690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183130" y="2829516"/>
            <a:ext cx="2285631" cy="2285631"/>
          </a:xfrm>
          <a:custGeom>
            <a:avLst/>
            <a:gdLst/>
            <a:ahLst/>
            <a:cxnLst/>
            <a:rect l="l" t="t" r="r" b="b"/>
            <a:pathLst>
              <a:path w="2285631" h="2285631">
                <a:moveTo>
                  <a:pt x="0" y="0"/>
                </a:moveTo>
                <a:lnTo>
                  <a:pt x="2285631" y="0"/>
                </a:lnTo>
                <a:lnTo>
                  <a:pt x="2285631" y="2285631"/>
                </a:lnTo>
                <a:lnTo>
                  <a:pt x="0" y="22856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379935" y="5669328"/>
            <a:ext cx="2285631" cy="2285631"/>
          </a:xfrm>
          <a:custGeom>
            <a:avLst/>
            <a:gdLst/>
            <a:ahLst/>
            <a:cxnLst/>
            <a:rect l="l" t="t" r="r" b="b"/>
            <a:pathLst>
              <a:path w="2285631" h="2285631">
                <a:moveTo>
                  <a:pt x="0" y="0"/>
                </a:moveTo>
                <a:lnTo>
                  <a:pt x="2285631" y="0"/>
                </a:lnTo>
                <a:lnTo>
                  <a:pt x="2285631" y="2285631"/>
                </a:lnTo>
                <a:lnTo>
                  <a:pt x="0" y="22856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1894890" y="2031907"/>
            <a:ext cx="2869461" cy="2869461"/>
          </a:xfrm>
          <a:custGeom>
            <a:avLst/>
            <a:gdLst/>
            <a:ahLst/>
            <a:cxnLst/>
            <a:rect l="l" t="t" r="r" b="b"/>
            <a:pathLst>
              <a:path w="2869461" h="2869461">
                <a:moveTo>
                  <a:pt x="0" y="0"/>
                </a:moveTo>
                <a:lnTo>
                  <a:pt x="2869461" y="0"/>
                </a:lnTo>
                <a:lnTo>
                  <a:pt x="2869461" y="2869462"/>
                </a:lnTo>
                <a:lnTo>
                  <a:pt x="0" y="28694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935787" y="4720550"/>
            <a:ext cx="4787666" cy="4787666"/>
          </a:xfrm>
          <a:custGeom>
            <a:avLst/>
            <a:gdLst/>
            <a:ahLst/>
            <a:cxnLst/>
            <a:rect l="l" t="t" r="r" b="b"/>
            <a:pathLst>
              <a:path w="4787666" h="4787666">
                <a:moveTo>
                  <a:pt x="0" y="0"/>
                </a:moveTo>
                <a:lnTo>
                  <a:pt x="4787667" y="0"/>
                </a:lnTo>
                <a:lnTo>
                  <a:pt x="4787667" y="4787666"/>
                </a:lnTo>
                <a:lnTo>
                  <a:pt x="0" y="47876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pic>
        <p:nvPicPr>
          <p:cNvPr id="11" name="Imagem 10" descr="Trello - ícones de mídia social grátis">
            <a:extLst>
              <a:ext uri="{FF2B5EF4-FFF2-40B4-BE49-F238E27FC236}">
                <a16:creationId xmlns:a16="http://schemas.microsoft.com/office/drawing/2014/main" id="{9782C365-9E8D-5C49-2581-805CC9C82E6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0685" y="5802795"/>
            <a:ext cx="2011019" cy="201101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504600" cy="10287000"/>
            <a:chOff x="0" y="0"/>
            <a:chExt cx="6728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72846" cy="13716000"/>
            </a:xfrm>
            <a:custGeom>
              <a:avLst/>
              <a:gdLst/>
              <a:ahLst/>
              <a:cxnLst/>
              <a:rect l="l" t="t" r="r" b="b"/>
              <a:pathLst>
                <a:path w="672846" h="13716000">
                  <a:moveTo>
                    <a:pt x="0" y="0"/>
                  </a:moveTo>
                  <a:lnTo>
                    <a:pt x="672846" y="0"/>
                  </a:lnTo>
                  <a:lnTo>
                    <a:pt x="672846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ED7A07">
                    <a:alpha val="100000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5400002"/>
            </a:gradFill>
          </p:spPr>
        </p:sp>
      </p:grpSp>
      <p:grpSp>
        <p:nvGrpSpPr>
          <p:cNvPr id="4" name="Group 4"/>
          <p:cNvGrpSpPr/>
          <p:nvPr/>
        </p:nvGrpSpPr>
        <p:grpSpPr>
          <a:xfrm>
            <a:off x="7540152" y="6270542"/>
            <a:ext cx="10464862" cy="540906"/>
            <a:chOff x="0" y="0"/>
            <a:chExt cx="7470592" cy="38613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470649" cy="386080"/>
            </a:xfrm>
            <a:custGeom>
              <a:avLst/>
              <a:gdLst/>
              <a:ahLst/>
              <a:cxnLst/>
              <a:rect l="l" t="t" r="r" b="b"/>
              <a:pathLst>
                <a:path w="7470649" h="386080">
                  <a:moveTo>
                    <a:pt x="16256" y="0"/>
                  </a:moveTo>
                  <a:lnTo>
                    <a:pt x="0" y="386080"/>
                  </a:lnTo>
                  <a:lnTo>
                    <a:pt x="7454392" y="344678"/>
                  </a:lnTo>
                  <a:lnTo>
                    <a:pt x="7470649" y="55118"/>
                  </a:lnTo>
                  <a:close/>
                </a:path>
              </a:pathLst>
            </a:custGeom>
            <a:solidFill>
              <a:srgbClr val="ED7A0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7707775" y="4451981"/>
            <a:ext cx="10297239" cy="1327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27"/>
              </a:lnSpc>
            </a:pPr>
            <a:r>
              <a:rPr lang="en-US" sz="123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         Processo de</a:t>
            </a:r>
          </a:p>
        </p:txBody>
      </p:sp>
      <p:grpSp>
        <p:nvGrpSpPr>
          <p:cNvPr id="7" name="Group 7"/>
          <p:cNvGrpSpPr/>
          <p:nvPr/>
        </p:nvGrpSpPr>
        <p:grpSpPr>
          <a:xfrm rot="-448633">
            <a:off x="1342460" y="5476300"/>
            <a:ext cx="5436024" cy="5434834"/>
            <a:chOff x="0" y="0"/>
            <a:chExt cx="7248032" cy="724644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248017" cy="7246493"/>
            </a:xfrm>
            <a:custGeom>
              <a:avLst/>
              <a:gdLst/>
              <a:ahLst/>
              <a:cxnLst/>
              <a:rect l="l" t="t" r="r" b="b"/>
              <a:pathLst>
                <a:path w="7248017" h="7246493">
                  <a:moveTo>
                    <a:pt x="0" y="3623183"/>
                  </a:moveTo>
                  <a:lnTo>
                    <a:pt x="692150" y="1383919"/>
                  </a:lnTo>
                  <a:lnTo>
                    <a:pt x="2504186" y="0"/>
                  </a:lnTo>
                  <a:lnTo>
                    <a:pt x="4743958" y="0"/>
                  </a:lnTo>
                  <a:lnTo>
                    <a:pt x="6555867" y="1383919"/>
                  </a:lnTo>
                  <a:lnTo>
                    <a:pt x="7248017" y="3623183"/>
                  </a:lnTo>
                  <a:lnTo>
                    <a:pt x="6555867" y="5862447"/>
                  </a:lnTo>
                  <a:lnTo>
                    <a:pt x="4743958" y="7246493"/>
                  </a:lnTo>
                  <a:lnTo>
                    <a:pt x="2504186" y="7246493"/>
                  </a:lnTo>
                  <a:lnTo>
                    <a:pt x="692150" y="5862447"/>
                  </a:lnTo>
                  <a:close/>
                </a:path>
              </a:pathLst>
            </a:custGeom>
            <a:solidFill>
              <a:srgbClr val="ED7A07">
                <a:alpha val="27843"/>
              </a:srgbClr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7369725" y="515562"/>
            <a:ext cx="4069614" cy="404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0"/>
              </a:lnSpc>
            </a:pPr>
            <a:r>
              <a:rPr lang="en-US" sz="25000">
                <a:solidFill>
                  <a:srgbClr val="ED7A07"/>
                </a:solidFill>
                <a:latin typeface="Poppins"/>
                <a:ea typeface="Poppins"/>
                <a:cs typeface="Poppins"/>
                <a:sym typeface="Poppins"/>
              </a:rPr>
              <a:t>07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07775" y="7280026"/>
            <a:ext cx="7217426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caminho percorrido: etapas que transformaram o projeto</a:t>
            </a:r>
          </a:p>
        </p:txBody>
      </p:sp>
      <p:sp>
        <p:nvSpPr>
          <p:cNvPr id="11" name="AutoShape 11"/>
          <p:cNvSpPr/>
          <p:nvPr/>
        </p:nvSpPr>
        <p:spPr>
          <a:xfrm rot="211568">
            <a:off x="7537806" y="4729887"/>
            <a:ext cx="2477891" cy="0"/>
          </a:xfrm>
          <a:prstGeom prst="line">
            <a:avLst/>
          </a:prstGeom>
          <a:ln w="57150" cap="rnd">
            <a:solidFill>
              <a:srgbClr val="ED7A0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>
            <a:off x="1912400" y="1374798"/>
            <a:ext cx="2082600" cy="2082000"/>
            <a:chOff x="0" y="0"/>
            <a:chExt cx="2776800" cy="2776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776855" cy="2776220"/>
            </a:xfrm>
            <a:custGeom>
              <a:avLst/>
              <a:gdLst/>
              <a:ahLst/>
              <a:cxnLst/>
              <a:rect l="l" t="t" r="r" b="b"/>
              <a:pathLst>
                <a:path w="2776855" h="2776220">
                  <a:moveTo>
                    <a:pt x="0" y="1387983"/>
                  </a:moveTo>
                  <a:lnTo>
                    <a:pt x="265176" y="530225"/>
                  </a:lnTo>
                  <a:lnTo>
                    <a:pt x="959358" y="0"/>
                  </a:lnTo>
                  <a:lnTo>
                    <a:pt x="1817497" y="0"/>
                  </a:lnTo>
                  <a:lnTo>
                    <a:pt x="2511679" y="530225"/>
                  </a:lnTo>
                  <a:lnTo>
                    <a:pt x="2776855" y="1388110"/>
                  </a:lnTo>
                  <a:lnTo>
                    <a:pt x="2511679" y="2245995"/>
                  </a:lnTo>
                  <a:lnTo>
                    <a:pt x="1817497" y="2776220"/>
                  </a:lnTo>
                  <a:lnTo>
                    <a:pt x="959358" y="2776220"/>
                  </a:lnTo>
                  <a:lnTo>
                    <a:pt x="265176" y="2245868"/>
                  </a:lnTo>
                  <a:close/>
                </a:path>
              </a:pathLst>
            </a:custGeom>
            <a:solidFill>
              <a:srgbClr val="ED7A07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2387472" y="1766780"/>
            <a:ext cx="1127671" cy="1298042"/>
          </a:xfrm>
          <a:custGeom>
            <a:avLst/>
            <a:gdLst/>
            <a:ahLst/>
            <a:cxnLst/>
            <a:rect l="l" t="t" r="r" b="b"/>
            <a:pathLst>
              <a:path w="1127671" h="1298042">
                <a:moveTo>
                  <a:pt x="0" y="0"/>
                </a:moveTo>
                <a:lnTo>
                  <a:pt x="1127671" y="0"/>
                </a:lnTo>
                <a:lnTo>
                  <a:pt x="1127671" y="1298042"/>
                </a:lnTo>
                <a:lnTo>
                  <a:pt x="0" y="12980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7540152" y="5725116"/>
            <a:ext cx="10954674" cy="1245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60"/>
              </a:lnSpc>
            </a:pPr>
            <a:r>
              <a:rPr lang="en-US" sz="11611" i="1">
                <a:solidFill>
                  <a:srgbClr val="000000"/>
                </a:solidFill>
                <a:latin typeface="Abhaya Libre Italics"/>
                <a:ea typeface="Abhaya Libre Italics"/>
                <a:cs typeface="Abhaya Libre Italics"/>
                <a:sym typeface="Abhaya Libre Italics"/>
              </a:rPr>
              <a:t>Desenvolvimento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504600" cy="10287000"/>
            <a:chOff x="0" y="0"/>
            <a:chExt cx="6728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72846" cy="13716000"/>
            </a:xfrm>
            <a:custGeom>
              <a:avLst/>
              <a:gdLst/>
              <a:ahLst/>
              <a:cxnLst/>
              <a:rect l="l" t="t" r="r" b="b"/>
              <a:pathLst>
                <a:path w="672846" h="13716000">
                  <a:moveTo>
                    <a:pt x="0" y="0"/>
                  </a:moveTo>
                  <a:lnTo>
                    <a:pt x="672846" y="0"/>
                  </a:lnTo>
                  <a:lnTo>
                    <a:pt x="672846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ED7A07">
                    <a:alpha val="100000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5400002"/>
            </a:gra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504600" cy="10287000"/>
            <a:chOff x="0" y="0"/>
            <a:chExt cx="6728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72846" cy="13716000"/>
            </a:xfrm>
            <a:custGeom>
              <a:avLst/>
              <a:gdLst/>
              <a:ahLst/>
              <a:cxnLst/>
              <a:rect l="l" t="t" r="r" b="b"/>
              <a:pathLst>
                <a:path w="672846" h="13716000">
                  <a:moveTo>
                    <a:pt x="0" y="0"/>
                  </a:moveTo>
                  <a:lnTo>
                    <a:pt x="672846" y="0"/>
                  </a:lnTo>
                  <a:lnTo>
                    <a:pt x="672846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ED7A07">
                    <a:alpha val="100000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5400002"/>
            </a:gradFill>
          </p:spPr>
        </p:sp>
      </p:grpSp>
      <p:sp>
        <p:nvSpPr>
          <p:cNvPr id="6" name="AutoShape 6"/>
          <p:cNvSpPr/>
          <p:nvPr/>
        </p:nvSpPr>
        <p:spPr>
          <a:xfrm rot="157789">
            <a:off x="1602525" y="1887825"/>
            <a:ext cx="1660749" cy="0"/>
          </a:xfrm>
          <a:prstGeom prst="line">
            <a:avLst/>
          </a:prstGeom>
          <a:ln w="28575" cap="rnd">
            <a:solidFill>
              <a:srgbClr val="ED7A0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 rot="157789">
            <a:off x="1602525" y="1887825"/>
            <a:ext cx="1660749" cy="0"/>
          </a:xfrm>
          <a:prstGeom prst="line">
            <a:avLst/>
          </a:prstGeom>
          <a:ln w="28575" cap="rnd">
            <a:solidFill>
              <a:srgbClr val="ED7A0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 rot="-448633">
            <a:off x="14791686" y="5306050"/>
            <a:ext cx="5436024" cy="5434834"/>
            <a:chOff x="0" y="0"/>
            <a:chExt cx="7248032" cy="724644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248017" cy="7246493"/>
            </a:xfrm>
            <a:custGeom>
              <a:avLst/>
              <a:gdLst/>
              <a:ahLst/>
              <a:cxnLst/>
              <a:rect l="l" t="t" r="r" b="b"/>
              <a:pathLst>
                <a:path w="7248017" h="7246493">
                  <a:moveTo>
                    <a:pt x="0" y="3623183"/>
                  </a:moveTo>
                  <a:lnTo>
                    <a:pt x="692150" y="1383919"/>
                  </a:lnTo>
                  <a:lnTo>
                    <a:pt x="2504186" y="0"/>
                  </a:lnTo>
                  <a:lnTo>
                    <a:pt x="4743958" y="0"/>
                  </a:lnTo>
                  <a:lnTo>
                    <a:pt x="6555867" y="1383919"/>
                  </a:lnTo>
                  <a:lnTo>
                    <a:pt x="7248017" y="3623183"/>
                  </a:lnTo>
                  <a:lnTo>
                    <a:pt x="6555867" y="5862447"/>
                  </a:lnTo>
                  <a:lnTo>
                    <a:pt x="4743958" y="7246493"/>
                  </a:lnTo>
                  <a:lnTo>
                    <a:pt x="2504186" y="7246493"/>
                  </a:lnTo>
                  <a:lnTo>
                    <a:pt x="692150" y="5862447"/>
                  </a:lnTo>
                  <a:close/>
                </a:path>
              </a:pathLst>
            </a:custGeom>
            <a:solidFill>
              <a:srgbClr val="ED7A07">
                <a:alpha val="27843"/>
              </a:srgbClr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3555875" y="1151375"/>
            <a:ext cx="13213950" cy="1076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00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 Processo de Desenvolvimento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422650" y="6683013"/>
            <a:ext cx="1345150" cy="1159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209"/>
              </a:lnSpc>
            </a:pPr>
            <a:r>
              <a:rPr lang="en-US" sz="7650" dirty="0">
                <a:solidFill>
                  <a:srgbClr val="ED7A07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lang="en-US" sz="7674" dirty="0">
              <a:solidFill>
                <a:srgbClr val="ED7A0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044684" y="4227017"/>
            <a:ext cx="1436791" cy="1325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836"/>
              </a:lnSpc>
            </a:pPr>
            <a:r>
              <a:rPr lang="en-US" sz="8197">
                <a:solidFill>
                  <a:srgbClr val="ED7A07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08659" y="4293692"/>
            <a:ext cx="5988148" cy="151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 b="1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Levantamento de Requisitos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999300" y="6978369"/>
            <a:ext cx="4163550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 b="1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Protótipo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773925" y="4381500"/>
            <a:ext cx="4163550" cy="151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 b="1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Diagramas e Modelagem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891922" y="6508992"/>
            <a:ext cx="4163550" cy="151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 b="1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Integração com Banco (Futura)</a:t>
            </a:r>
          </a:p>
        </p:txBody>
      </p:sp>
      <p:sp>
        <p:nvSpPr>
          <p:cNvPr id="17" name="AutoShape 17"/>
          <p:cNvSpPr/>
          <p:nvPr/>
        </p:nvSpPr>
        <p:spPr>
          <a:xfrm rot="8501">
            <a:off x="1440426" y="6162675"/>
            <a:ext cx="15407147" cy="0"/>
          </a:xfrm>
          <a:prstGeom prst="line">
            <a:avLst/>
          </a:prstGeom>
          <a:ln w="19050" cap="rnd">
            <a:solidFill>
              <a:srgbClr val="ED7A07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8" name="AutoShape 18"/>
          <p:cNvSpPr/>
          <p:nvPr/>
        </p:nvSpPr>
        <p:spPr>
          <a:xfrm flipH="1">
            <a:off x="3054475" y="5404375"/>
            <a:ext cx="24996" cy="670913"/>
          </a:xfrm>
          <a:prstGeom prst="line">
            <a:avLst/>
          </a:prstGeom>
          <a:ln w="9525" cap="rnd">
            <a:solidFill>
              <a:srgbClr val="ED7A07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19" name="AutoShape 19"/>
          <p:cNvSpPr/>
          <p:nvPr/>
        </p:nvSpPr>
        <p:spPr>
          <a:xfrm rot="5287948">
            <a:off x="4888670" y="6471850"/>
            <a:ext cx="584560" cy="0"/>
          </a:xfrm>
          <a:prstGeom prst="line">
            <a:avLst/>
          </a:prstGeom>
          <a:ln w="9525" cap="rnd">
            <a:solidFill>
              <a:srgbClr val="ED7A07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20" name="AutoShape 20"/>
          <p:cNvSpPr/>
          <p:nvPr/>
        </p:nvSpPr>
        <p:spPr>
          <a:xfrm rot="5287948">
            <a:off x="11757570" y="6471850"/>
            <a:ext cx="584560" cy="0"/>
          </a:xfrm>
          <a:prstGeom prst="line">
            <a:avLst/>
          </a:prstGeom>
          <a:ln w="9525" cap="rnd">
            <a:solidFill>
              <a:srgbClr val="ED7A07"/>
            </a:solidFill>
            <a:prstDash val="solid"/>
            <a:headEnd type="none" w="sm" len="sm"/>
            <a:tailEnd type="oval" w="lg" len="lg"/>
          </a:ln>
        </p:spPr>
      </p:sp>
      <p:grpSp>
        <p:nvGrpSpPr>
          <p:cNvPr id="21" name="Group 21"/>
          <p:cNvGrpSpPr/>
          <p:nvPr/>
        </p:nvGrpSpPr>
        <p:grpSpPr>
          <a:xfrm>
            <a:off x="15176700" y="426848"/>
            <a:ext cx="2082600" cy="2082000"/>
            <a:chOff x="0" y="0"/>
            <a:chExt cx="2776800" cy="2776000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2776800" cy="2776000"/>
              <a:chOff x="0" y="0"/>
              <a:chExt cx="2776800" cy="27760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776855" cy="2776220"/>
              </a:xfrm>
              <a:custGeom>
                <a:avLst/>
                <a:gdLst/>
                <a:ahLst/>
                <a:cxnLst/>
                <a:rect l="l" t="t" r="r" b="b"/>
                <a:pathLst>
                  <a:path w="2776855" h="2776220">
                    <a:moveTo>
                      <a:pt x="0" y="1387983"/>
                    </a:moveTo>
                    <a:lnTo>
                      <a:pt x="265176" y="530225"/>
                    </a:lnTo>
                    <a:lnTo>
                      <a:pt x="959358" y="0"/>
                    </a:lnTo>
                    <a:lnTo>
                      <a:pt x="1817497" y="0"/>
                    </a:lnTo>
                    <a:lnTo>
                      <a:pt x="2511679" y="530225"/>
                    </a:lnTo>
                    <a:lnTo>
                      <a:pt x="2776855" y="1388110"/>
                    </a:lnTo>
                    <a:lnTo>
                      <a:pt x="2511679" y="2245995"/>
                    </a:lnTo>
                    <a:lnTo>
                      <a:pt x="1817497" y="2776220"/>
                    </a:lnTo>
                    <a:lnTo>
                      <a:pt x="959358" y="2776220"/>
                    </a:lnTo>
                    <a:lnTo>
                      <a:pt x="265176" y="2245868"/>
                    </a:lnTo>
                    <a:close/>
                  </a:path>
                </a:pathLst>
              </a:custGeom>
              <a:solidFill>
                <a:srgbClr val="ED7A07"/>
              </a:solidFill>
            </p:spPr>
          </p:sp>
        </p:grpSp>
        <p:sp>
          <p:nvSpPr>
            <p:cNvPr id="24" name="Freeform 24"/>
            <p:cNvSpPr/>
            <p:nvPr/>
          </p:nvSpPr>
          <p:spPr>
            <a:xfrm>
              <a:off x="611730" y="704875"/>
              <a:ext cx="1551799" cy="1370397"/>
            </a:xfrm>
            <a:custGeom>
              <a:avLst/>
              <a:gdLst/>
              <a:ahLst/>
              <a:cxnLst/>
              <a:rect l="l" t="t" r="r" b="b"/>
              <a:pathLst>
                <a:path w="1551799" h="1370397">
                  <a:moveTo>
                    <a:pt x="0" y="0"/>
                  </a:moveTo>
                  <a:lnTo>
                    <a:pt x="1551799" y="0"/>
                  </a:lnTo>
                  <a:lnTo>
                    <a:pt x="1551799" y="1370397"/>
                  </a:lnTo>
                  <a:lnTo>
                    <a:pt x="0" y="1370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25" name="TextBox 25"/>
          <p:cNvSpPr txBox="1"/>
          <p:nvPr/>
        </p:nvSpPr>
        <p:spPr>
          <a:xfrm>
            <a:off x="10105700" y="4227017"/>
            <a:ext cx="1436791" cy="1235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836"/>
              </a:lnSpc>
            </a:pPr>
            <a:r>
              <a:rPr lang="en-US" sz="8150" dirty="0">
                <a:solidFill>
                  <a:srgbClr val="ED7A07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lang="en-US" sz="8197" dirty="0">
              <a:solidFill>
                <a:srgbClr val="ED7A0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" name="AutoShape 26"/>
          <p:cNvSpPr/>
          <p:nvPr/>
        </p:nvSpPr>
        <p:spPr>
          <a:xfrm flipH="1">
            <a:off x="10925270" y="5404375"/>
            <a:ext cx="24996" cy="670913"/>
          </a:xfrm>
          <a:prstGeom prst="line">
            <a:avLst/>
          </a:prstGeom>
          <a:ln w="9525" cap="rnd">
            <a:solidFill>
              <a:srgbClr val="ED7A07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27" name="TextBox 27"/>
          <p:cNvSpPr txBox="1"/>
          <p:nvPr/>
        </p:nvSpPr>
        <p:spPr>
          <a:xfrm>
            <a:off x="11318172" y="6518140"/>
            <a:ext cx="1345150" cy="1255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209"/>
              </a:lnSpc>
            </a:pPr>
            <a:r>
              <a:rPr lang="en-US" sz="7674">
                <a:solidFill>
                  <a:srgbClr val="ED7A07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504600" cy="10287000"/>
            <a:chOff x="0" y="0"/>
            <a:chExt cx="6728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72846" cy="13716000"/>
            </a:xfrm>
            <a:custGeom>
              <a:avLst/>
              <a:gdLst/>
              <a:ahLst/>
              <a:cxnLst/>
              <a:rect l="l" t="t" r="r" b="b"/>
              <a:pathLst>
                <a:path w="672846" h="13716000">
                  <a:moveTo>
                    <a:pt x="0" y="0"/>
                  </a:moveTo>
                  <a:lnTo>
                    <a:pt x="672846" y="0"/>
                  </a:lnTo>
                  <a:lnTo>
                    <a:pt x="672846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ED7A07">
                    <a:alpha val="100000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5400002"/>
            </a:gradFill>
          </p:spPr>
        </p:sp>
      </p:grpSp>
      <p:grpSp>
        <p:nvGrpSpPr>
          <p:cNvPr id="4" name="Group 4"/>
          <p:cNvGrpSpPr/>
          <p:nvPr/>
        </p:nvGrpSpPr>
        <p:grpSpPr>
          <a:xfrm>
            <a:off x="9747098" y="6298375"/>
            <a:ext cx="5136960" cy="265518"/>
            <a:chOff x="0" y="0"/>
            <a:chExt cx="7470592" cy="38613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470649" cy="386080"/>
            </a:xfrm>
            <a:custGeom>
              <a:avLst/>
              <a:gdLst/>
              <a:ahLst/>
              <a:cxnLst/>
              <a:rect l="l" t="t" r="r" b="b"/>
              <a:pathLst>
                <a:path w="7470649" h="386080">
                  <a:moveTo>
                    <a:pt x="16256" y="0"/>
                  </a:moveTo>
                  <a:lnTo>
                    <a:pt x="0" y="386080"/>
                  </a:lnTo>
                  <a:lnTo>
                    <a:pt x="7454392" y="344678"/>
                  </a:lnTo>
                  <a:lnTo>
                    <a:pt x="7470649" y="55118"/>
                  </a:lnTo>
                  <a:close/>
                </a:path>
              </a:pathLst>
            </a:custGeom>
            <a:solidFill>
              <a:srgbClr val="ED7A0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7755400" y="4455640"/>
            <a:ext cx="9377252" cy="2460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27"/>
              </a:lnSpc>
            </a:pPr>
            <a:r>
              <a:rPr lang="en-US" sz="123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         Benefícios do Sistema</a:t>
            </a:r>
          </a:p>
        </p:txBody>
      </p:sp>
      <p:grpSp>
        <p:nvGrpSpPr>
          <p:cNvPr id="7" name="Group 7"/>
          <p:cNvGrpSpPr/>
          <p:nvPr/>
        </p:nvGrpSpPr>
        <p:grpSpPr>
          <a:xfrm rot="-448633">
            <a:off x="1342460" y="5476300"/>
            <a:ext cx="5436024" cy="5434834"/>
            <a:chOff x="0" y="0"/>
            <a:chExt cx="7248032" cy="724644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248017" cy="7246493"/>
            </a:xfrm>
            <a:custGeom>
              <a:avLst/>
              <a:gdLst/>
              <a:ahLst/>
              <a:cxnLst/>
              <a:rect l="l" t="t" r="r" b="b"/>
              <a:pathLst>
                <a:path w="7248017" h="7246493">
                  <a:moveTo>
                    <a:pt x="0" y="3623183"/>
                  </a:moveTo>
                  <a:lnTo>
                    <a:pt x="692150" y="1383919"/>
                  </a:lnTo>
                  <a:lnTo>
                    <a:pt x="2504186" y="0"/>
                  </a:lnTo>
                  <a:lnTo>
                    <a:pt x="4743958" y="0"/>
                  </a:lnTo>
                  <a:lnTo>
                    <a:pt x="6555867" y="1383919"/>
                  </a:lnTo>
                  <a:lnTo>
                    <a:pt x="7248017" y="3623183"/>
                  </a:lnTo>
                  <a:lnTo>
                    <a:pt x="6555867" y="5862447"/>
                  </a:lnTo>
                  <a:lnTo>
                    <a:pt x="4743958" y="7246493"/>
                  </a:lnTo>
                  <a:lnTo>
                    <a:pt x="2504186" y="7246493"/>
                  </a:lnTo>
                  <a:lnTo>
                    <a:pt x="692150" y="5862447"/>
                  </a:lnTo>
                  <a:close/>
                </a:path>
              </a:pathLst>
            </a:custGeom>
            <a:solidFill>
              <a:srgbClr val="ED7A07">
                <a:alpha val="27843"/>
              </a:srgbClr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7369725" y="515562"/>
            <a:ext cx="4069614" cy="404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0"/>
              </a:lnSpc>
            </a:pPr>
            <a:r>
              <a:rPr lang="en-US" sz="25000">
                <a:solidFill>
                  <a:srgbClr val="ED7A07"/>
                </a:solidFill>
                <a:latin typeface="Poppins"/>
                <a:ea typeface="Poppins"/>
                <a:cs typeface="Poppins"/>
                <a:sym typeface="Poppins"/>
              </a:rPr>
              <a:t>08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07775" y="7280026"/>
            <a:ext cx="5746950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Vantagens práticas para o bazar e para a comunidade</a:t>
            </a:r>
          </a:p>
        </p:txBody>
      </p:sp>
      <p:sp>
        <p:nvSpPr>
          <p:cNvPr id="11" name="AutoShape 11"/>
          <p:cNvSpPr/>
          <p:nvPr/>
        </p:nvSpPr>
        <p:spPr>
          <a:xfrm rot="211568">
            <a:off x="7537806" y="4729887"/>
            <a:ext cx="2477891" cy="0"/>
          </a:xfrm>
          <a:prstGeom prst="line">
            <a:avLst/>
          </a:prstGeom>
          <a:ln w="57150" cap="rnd">
            <a:solidFill>
              <a:srgbClr val="ED7A0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>
            <a:off x="1912400" y="1374798"/>
            <a:ext cx="2082600" cy="2082000"/>
            <a:chOff x="0" y="0"/>
            <a:chExt cx="2776800" cy="2776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776855" cy="2776220"/>
            </a:xfrm>
            <a:custGeom>
              <a:avLst/>
              <a:gdLst/>
              <a:ahLst/>
              <a:cxnLst/>
              <a:rect l="l" t="t" r="r" b="b"/>
              <a:pathLst>
                <a:path w="2776855" h="2776220">
                  <a:moveTo>
                    <a:pt x="0" y="1387983"/>
                  </a:moveTo>
                  <a:lnTo>
                    <a:pt x="265176" y="530225"/>
                  </a:lnTo>
                  <a:lnTo>
                    <a:pt x="959358" y="0"/>
                  </a:lnTo>
                  <a:lnTo>
                    <a:pt x="1817497" y="0"/>
                  </a:lnTo>
                  <a:lnTo>
                    <a:pt x="2511679" y="530225"/>
                  </a:lnTo>
                  <a:lnTo>
                    <a:pt x="2776855" y="1388110"/>
                  </a:lnTo>
                  <a:lnTo>
                    <a:pt x="2511679" y="2245995"/>
                  </a:lnTo>
                  <a:lnTo>
                    <a:pt x="1817497" y="2776220"/>
                  </a:lnTo>
                  <a:lnTo>
                    <a:pt x="959358" y="2776220"/>
                  </a:lnTo>
                  <a:lnTo>
                    <a:pt x="265176" y="2245868"/>
                  </a:lnTo>
                  <a:close/>
                </a:path>
              </a:pathLst>
            </a:custGeom>
            <a:solidFill>
              <a:srgbClr val="ED7A07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2387472" y="1766780"/>
            <a:ext cx="1127671" cy="1298042"/>
          </a:xfrm>
          <a:custGeom>
            <a:avLst/>
            <a:gdLst/>
            <a:ahLst/>
            <a:cxnLst/>
            <a:rect l="l" t="t" r="r" b="b"/>
            <a:pathLst>
              <a:path w="1127671" h="1298042">
                <a:moveTo>
                  <a:pt x="0" y="0"/>
                </a:moveTo>
                <a:lnTo>
                  <a:pt x="1127671" y="0"/>
                </a:lnTo>
                <a:lnTo>
                  <a:pt x="1127671" y="1298042"/>
                </a:lnTo>
                <a:lnTo>
                  <a:pt x="0" y="12980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615730" y="8637146"/>
            <a:ext cx="455056" cy="453816"/>
            <a:chOff x="0" y="0"/>
            <a:chExt cx="606741" cy="6050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06679" cy="605028"/>
            </a:xfrm>
            <a:custGeom>
              <a:avLst/>
              <a:gdLst/>
              <a:ahLst/>
              <a:cxnLst/>
              <a:rect l="l" t="t" r="r" b="b"/>
              <a:pathLst>
                <a:path w="606679" h="605028">
                  <a:moveTo>
                    <a:pt x="304165" y="0"/>
                  </a:moveTo>
                  <a:lnTo>
                    <a:pt x="275844" y="115316"/>
                  </a:lnTo>
                  <a:cubicBezTo>
                    <a:pt x="257429" y="193929"/>
                    <a:pt x="195580" y="255778"/>
                    <a:pt x="117094" y="274066"/>
                  </a:cubicBezTo>
                  <a:lnTo>
                    <a:pt x="0" y="300863"/>
                  </a:lnTo>
                  <a:lnTo>
                    <a:pt x="116967" y="329311"/>
                  </a:lnTo>
                  <a:cubicBezTo>
                    <a:pt x="195580" y="347726"/>
                    <a:pt x="257429" y="409575"/>
                    <a:pt x="275717" y="488061"/>
                  </a:cubicBezTo>
                  <a:lnTo>
                    <a:pt x="302514" y="605028"/>
                  </a:lnTo>
                  <a:lnTo>
                    <a:pt x="330962" y="488061"/>
                  </a:lnTo>
                  <a:cubicBezTo>
                    <a:pt x="349377" y="409448"/>
                    <a:pt x="411226" y="347599"/>
                    <a:pt x="489712" y="329311"/>
                  </a:cubicBezTo>
                  <a:lnTo>
                    <a:pt x="606679" y="302514"/>
                  </a:lnTo>
                  <a:lnTo>
                    <a:pt x="489712" y="274066"/>
                  </a:lnTo>
                  <a:cubicBezTo>
                    <a:pt x="411099" y="255651"/>
                    <a:pt x="349250" y="193802"/>
                    <a:pt x="330962" y="115316"/>
                  </a:cubicBezTo>
                  <a:lnTo>
                    <a:pt x="304165" y="0"/>
                  </a:lnTo>
                  <a:close/>
                </a:path>
              </a:pathLst>
            </a:custGeom>
            <a:solidFill>
              <a:srgbClr val="F1EFF2"/>
            </a:solidFill>
          </p:spPr>
        </p:sp>
      </p:grpSp>
      <p:sp>
        <p:nvSpPr>
          <p:cNvPr id="4" name="AutoShape 4"/>
          <p:cNvSpPr/>
          <p:nvPr/>
        </p:nvSpPr>
        <p:spPr>
          <a:xfrm rot="157789">
            <a:off x="1602525" y="1887825"/>
            <a:ext cx="1660749" cy="0"/>
          </a:xfrm>
          <a:prstGeom prst="line">
            <a:avLst/>
          </a:prstGeom>
          <a:ln w="28575" cap="rnd">
            <a:solidFill>
              <a:srgbClr val="ED7A0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0" y="0"/>
            <a:ext cx="504600" cy="10287000"/>
            <a:chOff x="0" y="0"/>
            <a:chExt cx="672800" cy="13716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72846" cy="13716000"/>
            </a:xfrm>
            <a:custGeom>
              <a:avLst/>
              <a:gdLst/>
              <a:ahLst/>
              <a:cxnLst/>
              <a:rect l="l" t="t" r="r" b="b"/>
              <a:pathLst>
                <a:path w="672846" h="13716000">
                  <a:moveTo>
                    <a:pt x="0" y="0"/>
                  </a:moveTo>
                  <a:lnTo>
                    <a:pt x="672846" y="0"/>
                  </a:lnTo>
                  <a:lnTo>
                    <a:pt x="672846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ED7A07">
                    <a:alpha val="100000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5400002"/>
            </a:gradFill>
          </p:spPr>
        </p:sp>
      </p:grpSp>
      <p:grpSp>
        <p:nvGrpSpPr>
          <p:cNvPr id="7" name="Group 7"/>
          <p:cNvGrpSpPr/>
          <p:nvPr/>
        </p:nvGrpSpPr>
        <p:grpSpPr>
          <a:xfrm>
            <a:off x="13089976" y="494548"/>
            <a:ext cx="2082600" cy="2082000"/>
            <a:chOff x="0" y="0"/>
            <a:chExt cx="2776800" cy="2776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76855" cy="2776220"/>
            </a:xfrm>
            <a:custGeom>
              <a:avLst/>
              <a:gdLst/>
              <a:ahLst/>
              <a:cxnLst/>
              <a:rect l="l" t="t" r="r" b="b"/>
              <a:pathLst>
                <a:path w="2776855" h="2776220">
                  <a:moveTo>
                    <a:pt x="0" y="1387983"/>
                  </a:moveTo>
                  <a:lnTo>
                    <a:pt x="265176" y="530225"/>
                  </a:lnTo>
                  <a:lnTo>
                    <a:pt x="959358" y="0"/>
                  </a:lnTo>
                  <a:lnTo>
                    <a:pt x="1817497" y="0"/>
                  </a:lnTo>
                  <a:lnTo>
                    <a:pt x="2511679" y="530225"/>
                  </a:lnTo>
                  <a:lnTo>
                    <a:pt x="2776855" y="1388110"/>
                  </a:lnTo>
                  <a:lnTo>
                    <a:pt x="2511679" y="2245995"/>
                  </a:lnTo>
                  <a:lnTo>
                    <a:pt x="1817497" y="2776220"/>
                  </a:lnTo>
                  <a:lnTo>
                    <a:pt x="959358" y="2776220"/>
                  </a:lnTo>
                  <a:lnTo>
                    <a:pt x="265176" y="2245868"/>
                  </a:lnTo>
                  <a:close/>
                </a:path>
              </a:pathLst>
            </a:custGeom>
            <a:solidFill>
              <a:srgbClr val="ED7A07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3556075" y="1151375"/>
            <a:ext cx="13213950" cy="1076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00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 Benefícios do Sistema</a:t>
            </a:r>
          </a:p>
        </p:txBody>
      </p:sp>
      <p:sp>
        <p:nvSpPr>
          <p:cNvPr id="10" name="Freeform 10"/>
          <p:cNvSpPr/>
          <p:nvPr/>
        </p:nvSpPr>
        <p:spPr>
          <a:xfrm>
            <a:off x="13592821" y="1016247"/>
            <a:ext cx="1113925" cy="1090518"/>
          </a:xfrm>
          <a:custGeom>
            <a:avLst/>
            <a:gdLst/>
            <a:ahLst/>
            <a:cxnLst/>
            <a:rect l="l" t="t" r="r" b="b"/>
            <a:pathLst>
              <a:path w="1113925" h="1090518">
                <a:moveTo>
                  <a:pt x="0" y="0"/>
                </a:moveTo>
                <a:lnTo>
                  <a:pt x="1113925" y="0"/>
                </a:lnTo>
                <a:lnTo>
                  <a:pt x="1113925" y="1090519"/>
                </a:lnTo>
                <a:lnTo>
                  <a:pt x="0" y="10905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9333826" y="6802800"/>
            <a:ext cx="3082226" cy="440400"/>
          </a:xfrm>
          <a:custGeom>
            <a:avLst/>
            <a:gdLst/>
            <a:ahLst/>
            <a:cxnLst/>
            <a:rect l="l" t="t" r="r" b="b"/>
            <a:pathLst>
              <a:path w="3082226" h="440400">
                <a:moveTo>
                  <a:pt x="0" y="0"/>
                </a:moveTo>
                <a:lnTo>
                  <a:pt x="3082226" y="0"/>
                </a:lnTo>
                <a:lnTo>
                  <a:pt x="3082226" y="440400"/>
                </a:lnTo>
                <a:lnTo>
                  <a:pt x="0" y="4404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9333826" y="3632640"/>
            <a:ext cx="3082226" cy="440400"/>
          </a:xfrm>
          <a:custGeom>
            <a:avLst/>
            <a:gdLst/>
            <a:ahLst/>
            <a:cxnLst/>
            <a:rect l="l" t="t" r="r" b="b"/>
            <a:pathLst>
              <a:path w="3082226" h="440400">
                <a:moveTo>
                  <a:pt x="0" y="0"/>
                </a:moveTo>
                <a:lnTo>
                  <a:pt x="3082226" y="0"/>
                </a:lnTo>
                <a:lnTo>
                  <a:pt x="3082226" y="440400"/>
                </a:lnTo>
                <a:lnTo>
                  <a:pt x="0" y="4404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429000" y="6802800"/>
            <a:ext cx="3082226" cy="440400"/>
          </a:xfrm>
          <a:custGeom>
            <a:avLst/>
            <a:gdLst/>
            <a:ahLst/>
            <a:cxnLst/>
            <a:rect l="l" t="t" r="r" b="b"/>
            <a:pathLst>
              <a:path w="3082226" h="440400">
                <a:moveTo>
                  <a:pt x="0" y="0"/>
                </a:moveTo>
                <a:lnTo>
                  <a:pt x="3082226" y="0"/>
                </a:lnTo>
                <a:lnTo>
                  <a:pt x="3082226" y="440400"/>
                </a:lnTo>
                <a:lnTo>
                  <a:pt x="0" y="4404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288049" y="3592360"/>
            <a:ext cx="3364127" cy="480679"/>
          </a:xfrm>
          <a:custGeom>
            <a:avLst/>
            <a:gdLst/>
            <a:ahLst/>
            <a:cxnLst/>
            <a:rect l="l" t="t" r="r" b="b"/>
            <a:pathLst>
              <a:path w="3364127" h="480679">
                <a:moveTo>
                  <a:pt x="0" y="0"/>
                </a:moveTo>
                <a:lnTo>
                  <a:pt x="3364127" y="0"/>
                </a:lnTo>
                <a:lnTo>
                  <a:pt x="3364127" y="480680"/>
                </a:lnTo>
                <a:lnTo>
                  <a:pt x="0" y="4806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4786726" y="3459010"/>
            <a:ext cx="4163550" cy="151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 b="1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Organização Centralizada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720051" y="6669450"/>
            <a:ext cx="4163550" cy="151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 b="1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Maior alcance e divulgação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602725" y="3506635"/>
            <a:ext cx="4163550" cy="151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 b="1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Fácil e intuitivo de se utilizar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641608" y="6688500"/>
            <a:ext cx="4163550" cy="151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 b="1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Redução de erros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504600" cy="10287000"/>
            <a:chOff x="0" y="0"/>
            <a:chExt cx="6728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72846" cy="13716000"/>
            </a:xfrm>
            <a:custGeom>
              <a:avLst/>
              <a:gdLst/>
              <a:ahLst/>
              <a:cxnLst/>
              <a:rect l="l" t="t" r="r" b="b"/>
              <a:pathLst>
                <a:path w="672846" h="13716000">
                  <a:moveTo>
                    <a:pt x="0" y="0"/>
                  </a:moveTo>
                  <a:lnTo>
                    <a:pt x="672846" y="0"/>
                  </a:lnTo>
                  <a:lnTo>
                    <a:pt x="672846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ED7A07">
                    <a:alpha val="100000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5400002"/>
            </a:gradFill>
          </p:spPr>
        </p:sp>
      </p:grpSp>
      <p:grpSp>
        <p:nvGrpSpPr>
          <p:cNvPr id="4" name="Group 4"/>
          <p:cNvGrpSpPr/>
          <p:nvPr/>
        </p:nvGrpSpPr>
        <p:grpSpPr>
          <a:xfrm>
            <a:off x="7851781" y="6311043"/>
            <a:ext cx="4961888" cy="256469"/>
            <a:chOff x="0" y="0"/>
            <a:chExt cx="7470592" cy="38613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470649" cy="386080"/>
            </a:xfrm>
            <a:custGeom>
              <a:avLst/>
              <a:gdLst/>
              <a:ahLst/>
              <a:cxnLst/>
              <a:rect l="l" t="t" r="r" b="b"/>
              <a:pathLst>
                <a:path w="7470649" h="386080">
                  <a:moveTo>
                    <a:pt x="16256" y="0"/>
                  </a:moveTo>
                  <a:lnTo>
                    <a:pt x="0" y="386080"/>
                  </a:lnTo>
                  <a:lnTo>
                    <a:pt x="7454392" y="344678"/>
                  </a:lnTo>
                  <a:lnTo>
                    <a:pt x="7470649" y="55118"/>
                  </a:lnTo>
                  <a:close/>
                </a:path>
              </a:pathLst>
            </a:custGeom>
            <a:solidFill>
              <a:srgbClr val="ED7A0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7755400" y="4455574"/>
            <a:ext cx="9377252" cy="2460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27"/>
              </a:lnSpc>
            </a:pPr>
            <a:r>
              <a:rPr lang="en-US" sz="123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         Trabalhos Futuros</a:t>
            </a:r>
          </a:p>
        </p:txBody>
      </p:sp>
      <p:grpSp>
        <p:nvGrpSpPr>
          <p:cNvPr id="7" name="Group 7"/>
          <p:cNvGrpSpPr/>
          <p:nvPr/>
        </p:nvGrpSpPr>
        <p:grpSpPr>
          <a:xfrm rot="-448633">
            <a:off x="1342460" y="5476300"/>
            <a:ext cx="5436024" cy="5434834"/>
            <a:chOff x="0" y="0"/>
            <a:chExt cx="7248032" cy="724644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248017" cy="7246493"/>
            </a:xfrm>
            <a:custGeom>
              <a:avLst/>
              <a:gdLst/>
              <a:ahLst/>
              <a:cxnLst/>
              <a:rect l="l" t="t" r="r" b="b"/>
              <a:pathLst>
                <a:path w="7248017" h="7246493">
                  <a:moveTo>
                    <a:pt x="0" y="3623183"/>
                  </a:moveTo>
                  <a:lnTo>
                    <a:pt x="692150" y="1383919"/>
                  </a:lnTo>
                  <a:lnTo>
                    <a:pt x="2504186" y="0"/>
                  </a:lnTo>
                  <a:lnTo>
                    <a:pt x="4743958" y="0"/>
                  </a:lnTo>
                  <a:lnTo>
                    <a:pt x="6555867" y="1383919"/>
                  </a:lnTo>
                  <a:lnTo>
                    <a:pt x="7248017" y="3623183"/>
                  </a:lnTo>
                  <a:lnTo>
                    <a:pt x="6555867" y="5862447"/>
                  </a:lnTo>
                  <a:lnTo>
                    <a:pt x="4743958" y="7246493"/>
                  </a:lnTo>
                  <a:lnTo>
                    <a:pt x="2504186" y="7246493"/>
                  </a:lnTo>
                  <a:lnTo>
                    <a:pt x="692150" y="5862447"/>
                  </a:lnTo>
                  <a:close/>
                </a:path>
              </a:pathLst>
            </a:custGeom>
            <a:solidFill>
              <a:srgbClr val="ED7A07">
                <a:alpha val="27843"/>
              </a:srgbClr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7369725" y="515562"/>
            <a:ext cx="4069614" cy="404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0"/>
              </a:lnSpc>
            </a:pPr>
            <a:r>
              <a:rPr lang="en-US" sz="25000">
                <a:solidFill>
                  <a:srgbClr val="ED7A07"/>
                </a:solidFill>
                <a:latin typeface="Poppins"/>
                <a:ea typeface="Poppins"/>
                <a:cs typeface="Poppins"/>
                <a:sym typeface="Poppins"/>
              </a:rPr>
              <a:t>09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841125" y="7270501"/>
            <a:ext cx="7698328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próximo passo: evoluções que darão vida ao sistema completo</a:t>
            </a:r>
          </a:p>
        </p:txBody>
      </p:sp>
      <p:sp>
        <p:nvSpPr>
          <p:cNvPr id="11" name="AutoShape 11"/>
          <p:cNvSpPr/>
          <p:nvPr/>
        </p:nvSpPr>
        <p:spPr>
          <a:xfrm rot="211568">
            <a:off x="7537806" y="4729887"/>
            <a:ext cx="2477891" cy="0"/>
          </a:xfrm>
          <a:prstGeom prst="line">
            <a:avLst/>
          </a:prstGeom>
          <a:ln w="57150" cap="rnd">
            <a:solidFill>
              <a:srgbClr val="ED7A0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>
            <a:off x="1912400" y="1374798"/>
            <a:ext cx="2082600" cy="2082000"/>
            <a:chOff x="0" y="0"/>
            <a:chExt cx="2776800" cy="2776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776855" cy="2776220"/>
            </a:xfrm>
            <a:custGeom>
              <a:avLst/>
              <a:gdLst/>
              <a:ahLst/>
              <a:cxnLst/>
              <a:rect l="l" t="t" r="r" b="b"/>
              <a:pathLst>
                <a:path w="2776855" h="2776220">
                  <a:moveTo>
                    <a:pt x="0" y="1387983"/>
                  </a:moveTo>
                  <a:lnTo>
                    <a:pt x="265176" y="530225"/>
                  </a:lnTo>
                  <a:lnTo>
                    <a:pt x="959358" y="0"/>
                  </a:lnTo>
                  <a:lnTo>
                    <a:pt x="1817497" y="0"/>
                  </a:lnTo>
                  <a:lnTo>
                    <a:pt x="2511679" y="530225"/>
                  </a:lnTo>
                  <a:lnTo>
                    <a:pt x="2776855" y="1388110"/>
                  </a:lnTo>
                  <a:lnTo>
                    <a:pt x="2511679" y="2245995"/>
                  </a:lnTo>
                  <a:lnTo>
                    <a:pt x="1817497" y="2776220"/>
                  </a:lnTo>
                  <a:lnTo>
                    <a:pt x="959358" y="2776220"/>
                  </a:lnTo>
                  <a:lnTo>
                    <a:pt x="265176" y="2245868"/>
                  </a:lnTo>
                  <a:close/>
                </a:path>
              </a:pathLst>
            </a:custGeom>
            <a:solidFill>
              <a:srgbClr val="ED7A07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2387472" y="1766780"/>
            <a:ext cx="1127671" cy="1298042"/>
          </a:xfrm>
          <a:custGeom>
            <a:avLst/>
            <a:gdLst/>
            <a:ahLst/>
            <a:cxnLst/>
            <a:rect l="l" t="t" r="r" b="b"/>
            <a:pathLst>
              <a:path w="1127671" h="1298042">
                <a:moveTo>
                  <a:pt x="0" y="0"/>
                </a:moveTo>
                <a:lnTo>
                  <a:pt x="1127671" y="0"/>
                </a:lnTo>
                <a:lnTo>
                  <a:pt x="1127671" y="1298042"/>
                </a:lnTo>
                <a:lnTo>
                  <a:pt x="0" y="12980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47060">
            <a:off x="2314485" y="2790075"/>
            <a:ext cx="1781830" cy="0"/>
          </a:xfrm>
          <a:prstGeom prst="line">
            <a:avLst/>
          </a:prstGeom>
          <a:ln w="28575" cap="rnd">
            <a:solidFill>
              <a:srgbClr val="ED7A0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0" y="0"/>
            <a:ext cx="504600" cy="10287000"/>
            <a:chOff x="0" y="0"/>
            <a:chExt cx="6728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72846" cy="13716000"/>
            </a:xfrm>
            <a:custGeom>
              <a:avLst/>
              <a:gdLst/>
              <a:ahLst/>
              <a:cxnLst/>
              <a:rect l="l" t="t" r="r" b="b"/>
              <a:pathLst>
                <a:path w="672846" h="13716000">
                  <a:moveTo>
                    <a:pt x="0" y="0"/>
                  </a:moveTo>
                  <a:lnTo>
                    <a:pt x="672846" y="0"/>
                  </a:lnTo>
                  <a:lnTo>
                    <a:pt x="672846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ED7A07">
                    <a:alpha val="100000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5400002"/>
            </a:gradFill>
          </p:spPr>
        </p:sp>
      </p:grpSp>
      <p:grpSp>
        <p:nvGrpSpPr>
          <p:cNvPr id="5" name="Group 5"/>
          <p:cNvGrpSpPr/>
          <p:nvPr/>
        </p:nvGrpSpPr>
        <p:grpSpPr>
          <a:xfrm rot="-448633">
            <a:off x="11828236" y="3807350"/>
            <a:ext cx="5436024" cy="5434834"/>
            <a:chOff x="0" y="0"/>
            <a:chExt cx="7248032" cy="724644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248017" cy="7246493"/>
            </a:xfrm>
            <a:custGeom>
              <a:avLst/>
              <a:gdLst/>
              <a:ahLst/>
              <a:cxnLst/>
              <a:rect l="l" t="t" r="r" b="b"/>
              <a:pathLst>
                <a:path w="7248017" h="7246493">
                  <a:moveTo>
                    <a:pt x="0" y="3623183"/>
                  </a:moveTo>
                  <a:lnTo>
                    <a:pt x="692150" y="1383919"/>
                  </a:lnTo>
                  <a:lnTo>
                    <a:pt x="2504186" y="0"/>
                  </a:lnTo>
                  <a:lnTo>
                    <a:pt x="4743958" y="0"/>
                  </a:lnTo>
                  <a:lnTo>
                    <a:pt x="6555867" y="1383919"/>
                  </a:lnTo>
                  <a:lnTo>
                    <a:pt x="7248017" y="3623183"/>
                  </a:lnTo>
                  <a:lnTo>
                    <a:pt x="6555867" y="5862447"/>
                  </a:lnTo>
                  <a:lnTo>
                    <a:pt x="4743958" y="7246493"/>
                  </a:lnTo>
                  <a:lnTo>
                    <a:pt x="2504186" y="7246493"/>
                  </a:lnTo>
                  <a:lnTo>
                    <a:pt x="692150" y="5862447"/>
                  </a:lnTo>
                  <a:close/>
                </a:path>
              </a:pathLst>
            </a:custGeom>
            <a:solidFill>
              <a:srgbClr val="ED7A07">
                <a:alpha val="27843"/>
              </a:srgbClr>
            </a:solidFill>
          </p:spPr>
        </p:sp>
      </p:grpSp>
      <p:sp>
        <p:nvSpPr>
          <p:cNvPr id="7" name="Freeform 7"/>
          <p:cNvSpPr/>
          <p:nvPr/>
        </p:nvSpPr>
        <p:spPr>
          <a:xfrm>
            <a:off x="10237200" y="2514124"/>
            <a:ext cx="5869750" cy="5126702"/>
          </a:xfrm>
          <a:custGeom>
            <a:avLst/>
            <a:gdLst/>
            <a:ahLst/>
            <a:cxnLst/>
            <a:rect l="l" t="t" r="r" b="b"/>
            <a:pathLst>
              <a:path w="5869750" h="5126702">
                <a:moveTo>
                  <a:pt x="0" y="0"/>
                </a:moveTo>
                <a:lnTo>
                  <a:pt x="5869750" y="0"/>
                </a:lnTo>
                <a:lnTo>
                  <a:pt x="5869750" y="5126702"/>
                </a:lnTo>
                <a:lnTo>
                  <a:pt x="0" y="51267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684500" y="3082050"/>
            <a:ext cx="4773896" cy="2736654"/>
          </a:xfrm>
          <a:custGeom>
            <a:avLst/>
            <a:gdLst/>
            <a:ahLst/>
            <a:cxnLst/>
            <a:rect l="l" t="t" r="r" b="b"/>
            <a:pathLst>
              <a:path w="4773896" h="2736654">
                <a:moveTo>
                  <a:pt x="0" y="0"/>
                </a:moveTo>
                <a:lnTo>
                  <a:pt x="4773896" y="0"/>
                </a:lnTo>
                <a:lnTo>
                  <a:pt x="4773896" y="2736654"/>
                </a:lnTo>
                <a:lnTo>
                  <a:pt x="0" y="27366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93" r="-1308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457492" y="5987274"/>
            <a:ext cx="5222842" cy="205500"/>
          </a:xfrm>
          <a:custGeom>
            <a:avLst/>
            <a:gdLst/>
            <a:ahLst/>
            <a:cxnLst/>
            <a:rect l="l" t="t" r="r" b="b"/>
            <a:pathLst>
              <a:path w="5222842" h="205500">
                <a:moveTo>
                  <a:pt x="0" y="0"/>
                </a:moveTo>
                <a:lnTo>
                  <a:pt x="5222842" y="0"/>
                </a:lnTo>
                <a:lnTo>
                  <a:pt x="5222842" y="205500"/>
                </a:lnTo>
                <a:lnTo>
                  <a:pt x="0" y="2055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524347" y="2945088"/>
            <a:ext cx="5132301" cy="2873616"/>
          </a:xfrm>
          <a:custGeom>
            <a:avLst/>
            <a:gdLst/>
            <a:ahLst/>
            <a:cxnLst/>
            <a:rect l="l" t="t" r="r" b="b"/>
            <a:pathLst>
              <a:path w="5132301" h="2873616">
                <a:moveTo>
                  <a:pt x="0" y="0"/>
                </a:moveTo>
                <a:lnTo>
                  <a:pt x="5132302" y="0"/>
                </a:lnTo>
                <a:lnTo>
                  <a:pt x="5132302" y="2873616"/>
                </a:lnTo>
                <a:lnTo>
                  <a:pt x="0" y="287361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315300" y="4652602"/>
            <a:ext cx="5734950" cy="2543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1 - Backend Completo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2 - Integração CRUD administrativo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3 - Sistema de autenticação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4 - Dashboard para vendedor e administrador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93901" y="3081402"/>
            <a:ext cx="6801298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00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Trabalhos Futuros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504600" cy="10287000"/>
            <a:chOff x="0" y="0"/>
            <a:chExt cx="6728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72846" cy="13716000"/>
            </a:xfrm>
            <a:custGeom>
              <a:avLst/>
              <a:gdLst/>
              <a:ahLst/>
              <a:cxnLst/>
              <a:rect l="l" t="t" r="r" b="b"/>
              <a:pathLst>
                <a:path w="672846" h="13716000">
                  <a:moveTo>
                    <a:pt x="0" y="0"/>
                  </a:moveTo>
                  <a:lnTo>
                    <a:pt x="672846" y="0"/>
                  </a:lnTo>
                  <a:lnTo>
                    <a:pt x="672846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ED7A07">
                    <a:alpha val="100000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5400002"/>
            </a:gradFill>
          </p:spPr>
        </p:sp>
      </p:grpSp>
      <p:grpSp>
        <p:nvGrpSpPr>
          <p:cNvPr id="4" name="Group 4"/>
          <p:cNvGrpSpPr/>
          <p:nvPr/>
        </p:nvGrpSpPr>
        <p:grpSpPr>
          <a:xfrm>
            <a:off x="10519934" y="5126199"/>
            <a:ext cx="5937671" cy="306905"/>
            <a:chOff x="0" y="0"/>
            <a:chExt cx="7470592" cy="38613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470649" cy="386080"/>
            </a:xfrm>
            <a:custGeom>
              <a:avLst/>
              <a:gdLst/>
              <a:ahLst/>
              <a:cxnLst/>
              <a:rect l="l" t="t" r="r" b="b"/>
              <a:pathLst>
                <a:path w="7470649" h="386080">
                  <a:moveTo>
                    <a:pt x="16256" y="0"/>
                  </a:moveTo>
                  <a:lnTo>
                    <a:pt x="0" y="386080"/>
                  </a:lnTo>
                  <a:lnTo>
                    <a:pt x="7454392" y="344678"/>
                  </a:lnTo>
                  <a:lnTo>
                    <a:pt x="7470649" y="55118"/>
                  </a:lnTo>
                  <a:close/>
                </a:path>
              </a:pathLst>
            </a:custGeom>
            <a:solidFill>
              <a:srgbClr val="ED7A0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519934" y="4451947"/>
            <a:ext cx="9377252" cy="1327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27"/>
              </a:lnSpc>
            </a:pPr>
            <a:r>
              <a:rPr lang="en-US" sz="12399" i="1">
                <a:solidFill>
                  <a:srgbClr val="000000"/>
                </a:solidFill>
                <a:latin typeface="Abhaya Libre Italics"/>
                <a:ea typeface="Abhaya Libre Italics"/>
                <a:cs typeface="Abhaya Libre Italics"/>
                <a:sym typeface="Abhaya Libre Italics"/>
              </a:rPr>
              <a:t>Protótipo</a:t>
            </a:r>
          </a:p>
        </p:txBody>
      </p:sp>
      <p:grpSp>
        <p:nvGrpSpPr>
          <p:cNvPr id="7" name="Group 7"/>
          <p:cNvGrpSpPr/>
          <p:nvPr/>
        </p:nvGrpSpPr>
        <p:grpSpPr>
          <a:xfrm rot="-448633">
            <a:off x="1342460" y="5476300"/>
            <a:ext cx="5436024" cy="5434834"/>
            <a:chOff x="0" y="0"/>
            <a:chExt cx="7248032" cy="724644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248017" cy="7246493"/>
            </a:xfrm>
            <a:custGeom>
              <a:avLst/>
              <a:gdLst/>
              <a:ahLst/>
              <a:cxnLst/>
              <a:rect l="l" t="t" r="r" b="b"/>
              <a:pathLst>
                <a:path w="7248017" h="7246493">
                  <a:moveTo>
                    <a:pt x="0" y="3623183"/>
                  </a:moveTo>
                  <a:lnTo>
                    <a:pt x="692150" y="1383919"/>
                  </a:lnTo>
                  <a:lnTo>
                    <a:pt x="2504186" y="0"/>
                  </a:lnTo>
                  <a:lnTo>
                    <a:pt x="4743958" y="0"/>
                  </a:lnTo>
                  <a:lnTo>
                    <a:pt x="6555867" y="1383919"/>
                  </a:lnTo>
                  <a:lnTo>
                    <a:pt x="7248017" y="3623183"/>
                  </a:lnTo>
                  <a:lnTo>
                    <a:pt x="6555867" y="5862447"/>
                  </a:lnTo>
                  <a:lnTo>
                    <a:pt x="4743958" y="7246493"/>
                  </a:lnTo>
                  <a:lnTo>
                    <a:pt x="2504186" y="7246493"/>
                  </a:lnTo>
                  <a:lnTo>
                    <a:pt x="692150" y="5862447"/>
                  </a:lnTo>
                  <a:close/>
                </a:path>
              </a:pathLst>
            </a:custGeom>
            <a:solidFill>
              <a:srgbClr val="ED7A07">
                <a:alpha val="27843"/>
              </a:srgbClr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7369725" y="515562"/>
            <a:ext cx="4069614" cy="404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0"/>
              </a:lnSpc>
            </a:pPr>
            <a:r>
              <a:rPr lang="en-US" sz="25000">
                <a:solidFill>
                  <a:srgbClr val="ED7A07"/>
                </a:solidFill>
                <a:latin typeface="Poppins"/>
                <a:ea typeface="Poppins"/>
                <a:cs typeface="Poppins"/>
                <a:sym typeface="Poppins"/>
              </a:rPr>
              <a:t>10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07775" y="7280026"/>
            <a:ext cx="7398744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 ideia ao visual: experimentando o sistema pela primeira vez</a:t>
            </a:r>
          </a:p>
        </p:txBody>
      </p:sp>
      <p:sp>
        <p:nvSpPr>
          <p:cNvPr id="11" name="AutoShape 11"/>
          <p:cNvSpPr/>
          <p:nvPr/>
        </p:nvSpPr>
        <p:spPr>
          <a:xfrm rot="211568">
            <a:off x="7537806" y="4729887"/>
            <a:ext cx="2477891" cy="0"/>
          </a:xfrm>
          <a:prstGeom prst="line">
            <a:avLst/>
          </a:prstGeom>
          <a:ln w="57150" cap="rnd">
            <a:solidFill>
              <a:srgbClr val="ED7A0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>
            <a:off x="1912400" y="1374798"/>
            <a:ext cx="2082600" cy="2082000"/>
            <a:chOff x="0" y="0"/>
            <a:chExt cx="2776800" cy="2776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776855" cy="2776220"/>
            </a:xfrm>
            <a:custGeom>
              <a:avLst/>
              <a:gdLst/>
              <a:ahLst/>
              <a:cxnLst/>
              <a:rect l="l" t="t" r="r" b="b"/>
              <a:pathLst>
                <a:path w="2776855" h="2776220">
                  <a:moveTo>
                    <a:pt x="0" y="1387983"/>
                  </a:moveTo>
                  <a:lnTo>
                    <a:pt x="265176" y="530225"/>
                  </a:lnTo>
                  <a:lnTo>
                    <a:pt x="959358" y="0"/>
                  </a:lnTo>
                  <a:lnTo>
                    <a:pt x="1817497" y="0"/>
                  </a:lnTo>
                  <a:lnTo>
                    <a:pt x="2511679" y="530225"/>
                  </a:lnTo>
                  <a:lnTo>
                    <a:pt x="2776855" y="1388110"/>
                  </a:lnTo>
                  <a:lnTo>
                    <a:pt x="2511679" y="2245995"/>
                  </a:lnTo>
                  <a:lnTo>
                    <a:pt x="1817497" y="2776220"/>
                  </a:lnTo>
                  <a:lnTo>
                    <a:pt x="959358" y="2776220"/>
                  </a:lnTo>
                  <a:lnTo>
                    <a:pt x="265176" y="2245868"/>
                  </a:lnTo>
                  <a:close/>
                </a:path>
              </a:pathLst>
            </a:custGeom>
            <a:solidFill>
              <a:srgbClr val="ED7A07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2387472" y="1766780"/>
            <a:ext cx="1127671" cy="1298042"/>
          </a:xfrm>
          <a:custGeom>
            <a:avLst/>
            <a:gdLst/>
            <a:ahLst/>
            <a:cxnLst/>
            <a:rect l="l" t="t" r="r" b="b"/>
            <a:pathLst>
              <a:path w="1127671" h="1298042">
                <a:moveTo>
                  <a:pt x="0" y="0"/>
                </a:moveTo>
                <a:lnTo>
                  <a:pt x="1127671" y="0"/>
                </a:lnTo>
                <a:lnTo>
                  <a:pt x="1127671" y="1298042"/>
                </a:lnTo>
                <a:lnTo>
                  <a:pt x="0" y="12980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504600" cy="10287000"/>
            <a:chOff x="0" y="0"/>
            <a:chExt cx="6728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72846" cy="13716000"/>
            </a:xfrm>
            <a:custGeom>
              <a:avLst/>
              <a:gdLst/>
              <a:ahLst/>
              <a:cxnLst/>
              <a:rect l="l" t="t" r="r" b="b"/>
              <a:pathLst>
                <a:path w="672846" h="13716000">
                  <a:moveTo>
                    <a:pt x="0" y="0"/>
                  </a:moveTo>
                  <a:lnTo>
                    <a:pt x="672846" y="0"/>
                  </a:lnTo>
                  <a:lnTo>
                    <a:pt x="672846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ED7A07">
                    <a:alpha val="100000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5400002"/>
            </a:gra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504600" cy="10287000"/>
            <a:chOff x="0" y="0"/>
            <a:chExt cx="6728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72846" cy="13716000"/>
            </a:xfrm>
            <a:custGeom>
              <a:avLst/>
              <a:gdLst/>
              <a:ahLst/>
              <a:cxnLst/>
              <a:rect l="l" t="t" r="r" b="b"/>
              <a:pathLst>
                <a:path w="672846" h="13716000">
                  <a:moveTo>
                    <a:pt x="0" y="0"/>
                  </a:moveTo>
                  <a:lnTo>
                    <a:pt x="672846" y="0"/>
                  </a:lnTo>
                  <a:lnTo>
                    <a:pt x="672846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ED7A07">
                    <a:alpha val="100000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5400002"/>
            </a:gradFill>
          </p:spPr>
        </p:sp>
      </p:grpSp>
      <p:sp>
        <p:nvSpPr>
          <p:cNvPr id="6" name="AutoShape 6"/>
          <p:cNvSpPr/>
          <p:nvPr/>
        </p:nvSpPr>
        <p:spPr>
          <a:xfrm rot="157789">
            <a:off x="1602525" y="1887825"/>
            <a:ext cx="1660749" cy="0"/>
          </a:xfrm>
          <a:prstGeom prst="line">
            <a:avLst/>
          </a:prstGeom>
          <a:ln w="28575" cap="rnd">
            <a:solidFill>
              <a:srgbClr val="ED7A0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 rot="-448633">
            <a:off x="4318136" y="6194650"/>
            <a:ext cx="5436024" cy="5434834"/>
            <a:chOff x="0" y="0"/>
            <a:chExt cx="7248032" cy="724644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248017" cy="7246493"/>
            </a:xfrm>
            <a:custGeom>
              <a:avLst/>
              <a:gdLst/>
              <a:ahLst/>
              <a:cxnLst/>
              <a:rect l="l" t="t" r="r" b="b"/>
              <a:pathLst>
                <a:path w="7248017" h="7246493">
                  <a:moveTo>
                    <a:pt x="0" y="3623183"/>
                  </a:moveTo>
                  <a:lnTo>
                    <a:pt x="692150" y="1383919"/>
                  </a:lnTo>
                  <a:lnTo>
                    <a:pt x="2504186" y="0"/>
                  </a:lnTo>
                  <a:lnTo>
                    <a:pt x="4743958" y="0"/>
                  </a:lnTo>
                  <a:lnTo>
                    <a:pt x="6555867" y="1383919"/>
                  </a:lnTo>
                  <a:lnTo>
                    <a:pt x="7248017" y="3623183"/>
                  </a:lnTo>
                  <a:lnTo>
                    <a:pt x="6555867" y="5862447"/>
                  </a:lnTo>
                  <a:lnTo>
                    <a:pt x="4743958" y="7246493"/>
                  </a:lnTo>
                  <a:lnTo>
                    <a:pt x="2504186" y="7246493"/>
                  </a:lnTo>
                  <a:lnTo>
                    <a:pt x="692150" y="5862447"/>
                  </a:lnTo>
                  <a:close/>
                </a:path>
              </a:pathLst>
            </a:custGeom>
            <a:solidFill>
              <a:srgbClr val="ED7A07">
                <a:alpha val="27843"/>
              </a:srgbClr>
            </a:solidFill>
          </p:spPr>
        </p:sp>
      </p:grpSp>
      <p:sp>
        <p:nvSpPr>
          <p:cNvPr id="9" name="AutoShape 9"/>
          <p:cNvSpPr/>
          <p:nvPr/>
        </p:nvSpPr>
        <p:spPr>
          <a:xfrm rot="157789">
            <a:off x="1602525" y="1887825"/>
            <a:ext cx="1660749" cy="0"/>
          </a:xfrm>
          <a:prstGeom prst="line">
            <a:avLst/>
          </a:prstGeom>
          <a:ln w="28575" cap="rnd">
            <a:solidFill>
              <a:srgbClr val="ED7A0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14547676" y="1198598"/>
            <a:ext cx="2082600" cy="2082000"/>
            <a:chOff x="0" y="0"/>
            <a:chExt cx="2776800" cy="2776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776855" cy="2776220"/>
            </a:xfrm>
            <a:custGeom>
              <a:avLst/>
              <a:gdLst/>
              <a:ahLst/>
              <a:cxnLst/>
              <a:rect l="l" t="t" r="r" b="b"/>
              <a:pathLst>
                <a:path w="2776855" h="2776220">
                  <a:moveTo>
                    <a:pt x="0" y="1387983"/>
                  </a:moveTo>
                  <a:lnTo>
                    <a:pt x="265176" y="530225"/>
                  </a:lnTo>
                  <a:lnTo>
                    <a:pt x="959358" y="0"/>
                  </a:lnTo>
                  <a:lnTo>
                    <a:pt x="1817497" y="0"/>
                  </a:lnTo>
                  <a:lnTo>
                    <a:pt x="2511679" y="530225"/>
                  </a:lnTo>
                  <a:lnTo>
                    <a:pt x="2776855" y="1388110"/>
                  </a:lnTo>
                  <a:lnTo>
                    <a:pt x="2511679" y="2245995"/>
                  </a:lnTo>
                  <a:lnTo>
                    <a:pt x="1817497" y="2776220"/>
                  </a:lnTo>
                  <a:lnTo>
                    <a:pt x="959358" y="2776220"/>
                  </a:lnTo>
                  <a:lnTo>
                    <a:pt x="265176" y="2245868"/>
                  </a:lnTo>
                  <a:close/>
                </a:path>
              </a:pathLst>
            </a:custGeom>
            <a:solidFill>
              <a:srgbClr val="ED7A07"/>
            </a:solidFill>
          </p:spPr>
        </p:sp>
      </p:grpSp>
      <p:sp>
        <p:nvSpPr>
          <p:cNvPr id="12" name="Freeform 12"/>
          <p:cNvSpPr/>
          <p:nvPr/>
        </p:nvSpPr>
        <p:spPr>
          <a:xfrm>
            <a:off x="15067118" y="1712022"/>
            <a:ext cx="1083379" cy="996428"/>
          </a:xfrm>
          <a:custGeom>
            <a:avLst/>
            <a:gdLst/>
            <a:ahLst/>
            <a:cxnLst/>
            <a:rect l="l" t="t" r="r" b="b"/>
            <a:pathLst>
              <a:path w="1083379" h="996428">
                <a:moveTo>
                  <a:pt x="0" y="0"/>
                </a:moveTo>
                <a:lnTo>
                  <a:pt x="1083380" y="0"/>
                </a:lnTo>
                <a:lnTo>
                  <a:pt x="1083380" y="996428"/>
                </a:lnTo>
                <a:lnTo>
                  <a:pt x="0" y="9964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2682842" y="3280598"/>
            <a:ext cx="4746982" cy="4746982"/>
          </a:xfrm>
          <a:custGeom>
            <a:avLst/>
            <a:gdLst/>
            <a:ahLst/>
            <a:cxnLst/>
            <a:rect l="l" t="t" r="r" b="b"/>
            <a:pathLst>
              <a:path w="4746982" h="4746982">
                <a:moveTo>
                  <a:pt x="0" y="0"/>
                </a:moveTo>
                <a:lnTo>
                  <a:pt x="4746981" y="0"/>
                </a:lnTo>
                <a:lnTo>
                  <a:pt x="4746981" y="4746982"/>
                </a:lnTo>
                <a:lnTo>
                  <a:pt x="0" y="47469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3555875" y="1151375"/>
            <a:ext cx="3488300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00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Protótipo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612002" y="4637009"/>
            <a:ext cx="8647298" cy="1977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5"/>
              </a:lnSpc>
            </a:pPr>
            <a:r>
              <a:rPr lang="en-US" sz="641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https://joaoribeiro-v.github.io/ShopUp/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448633">
            <a:off x="11486086" y="6499750"/>
            <a:ext cx="5436024" cy="5434834"/>
            <a:chOff x="0" y="0"/>
            <a:chExt cx="7248032" cy="72464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248017" cy="7246493"/>
            </a:xfrm>
            <a:custGeom>
              <a:avLst/>
              <a:gdLst/>
              <a:ahLst/>
              <a:cxnLst/>
              <a:rect l="l" t="t" r="r" b="b"/>
              <a:pathLst>
                <a:path w="7248017" h="7246493">
                  <a:moveTo>
                    <a:pt x="0" y="3623183"/>
                  </a:moveTo>
                  <a:lnTo>
                    <a:pt x="692150" y="1383919"/>
                  </a:lnTo>
                  <a:lnTo>
                    <a:pt x="2504186" y="0"/>
                  </a:lnTo>
                  <a:lnTo>
                    <a:pt x="4743958" y="0"/>
                  </a:lnTo>
                  <a:lnTo>
                    <a:pt x="6555867" y="1383919"/>
                  </a:lnTo>
                  <a:lnTo>
                    <a:pt x="7248017" y="3623183"/>
                  </a:lnTo>
                  <a:lnTo>
                    <a:pt x="6555867" y="5862447"/>
                  </a:lnTo>
                  <a:lnTo>
                    <a:pt x="4743958" y="7246493"/>
                  </a:lnTo>
                  <a:lnTo>
                    <a:pt x="2504186" y="7246493"/>
                  </a:lnTo>
                  <a:lnTo>
                    <a:pt x="692150" y="5862447"/>
                  </a:lnTo>
                  <a:close/>
                </a:path>
              </a:pathLst>
            </a:custGeom>
            <a:solidFill>
              <a:srgbClr val="ED7A07">
                <a:alpha val="27843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504600" cy="10287000"/>
            <a:chOff x="0" y="0"/>
            <a:chExt cx="6728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72846" cy="13716000"/>
            </a:xfrm>
            <a:custGeom>
              <a:avLst/>
              <a:gdLst/>
              <a:ahLst/>
              <a:cxnLst/>
              <a:rect l="l" t="t" r="r" b="b"/>
              <a:pathLst>
                <a:path w="672846" h="13716000">
                  <a:moveTo>
                    <a:pt x="0" y="0"/>
                  </a:moveTo>
                  <a:lnTo>
                    <a:pt x="672846" y="0"/>
                  </a:lnTo>
                  <a:lnTo>
                    <a:pt x="672846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ED7A07">
                    <a:alpha val="100000"/>
                  </a:srgbClr>
                </a:gs>
                <a:gs pos="100000">
                  <a:srgbClr val="737373">
                    <a:alpha val="0"/>
                  </a:srgbClr>
                </a:gs>
              </a:gsLst>
              <a:lin ang="5400002"/>
            </a:gradFill>
          </p:spPr>
        </p:sp>
      </p:grpSp>
      <p:sp>
        <p:nvSpPr>
          <p:cNvPr id="6" name="TextBox 6"/>
          <p:cNvSpPr txBox="1"/>
          <p:nvPr/>
        </p:nvSpPr>
        <p:spPr>
          <a:xfrm>
            <a:off x="5385825" y="4070842"/>
            <a:ext cx="7516350" cy="1451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19"/>
              </a:lnSpc>
            </a:pPr>
            <a:r>
              <a:rPr lang="en-US" sz="134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Obrigado!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385825" y="5522438"/>
            <a:ext cx="7516350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Alguém tem alguma dúvida?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3484976" y="1531948"/>
            <a:ext cx="2082600" cy="2082000"/>
            <a:chOff x="0" y="0"/>
            <a:chExt cx="2776800" cy="2776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76855" cy="2776220"/>
            </a:xfrm>
            <a:custGeom>
              <a:avLst/>
              <a:gdLst/>
              <a:ahLst/>
              <a:cxnLst/>
              <a:rect l="l" t="t" r="r" b="b"/>
              <a:pathLst>
                <a:path w="2776855" h="2776220">
                  <a:moveTo>
                    <a:pt x="0" y="1387983"/>
                  </a:moveTo>
                  <a:lnTo>
                    <a:pt x="265176" y="530225"/>
                  </a:lnTo>
                  <a:lnTo>
                    <a:pt x="959358" y="0"/>
                  </a:lnTo>
                  <a:lnTo>
                    <a:pt x="1817497" y="0"/>
                  </a:lnTo>
                  <a:lnTo>
                    <a:pt x="2511679" y="530225"/>
                  </a:lnTo>
                  <a:lnTo>
                    <a:pt x="2776855" y="1388110"/>
                  </a:lnTo>
                  <a:lnTo>
                    <a:pt x="2511679" y="2245995"/>
                  </a:lnTo>
                  <a:lnTo>
                    <a:pt x="1817497" y="2776220"/>
                  </a:lnTo>
                  <a:lnTo>
                    <a:pt x="959358" y="2776220"/>
                  </a:lnTo>
                  <a:lnTo>
                    <a:pt x="265176" y="2245868"/>
                  </a:lnTo>
                  <a:close/>
                </a:path>
              </a:pathLst>
            </a:custGeom>
            <a:solidFill>
              <a:srgbClr val="ED7A07"/>
            </a:solidFill>
          </p:spPr>
        </p:sp>
      </p:grpSp>
      <p:sp>
        <p:nvSpPr>
          <p:cNvPr id="10" name="Freeform 10"/>
          <p:cNvSpPr/>
          <p:nvPr/>
        </p:nvSpPr>
        <p:spPr>
          <a:xfrm>
            <a:off x="14015862" y="2057630"/>
            <a:ext cx="1137948" cy="1000018"/>
          </a:xfrm>
          <a:custGeom>
            <a:avLst/>
            <a:gdLst/>
            <a:ahLst/>
            <a:cxnLst/>
            <a:rect l="l" t="t" r="r" b="b"/>
            <a:pathLst>
              <a:path w="1137948" h="1000018">
                <a:moveTo>
                  <a:pt x="0" y="0"/>
                </a:moveTo>
                <a:lnTo>
                  <a:pt x="1137949" y="0"/>
                </a:lnTo>
                <a:lnTo>
                  <a:pt x="1137949" y="1000018"/>
                </a:lnTo>
                <a:lnTo>
                  <a:pt x="0" y="10000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AutoShape 11"/>
          <p:cNvSpPr/>
          <p:nvPr/>
        </p:nvSpPr>
        <p:spPr>
          <a:xfrm rot="228784">
            <a:off x="1610163" y="3992875"/>
            <a:ext cx="2291673" cy="0"/>
          </a:xfrm>
          <a:prstGeom prst="line">
            <a:avLst/>
          </a:prstGeom>
          <a:ln w="57150" cap="rnd">
            <a:solidFill>
              <a:srgbClr val="ED7A07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Personalizar</PresentationFormat>
  <Paragraphs>0</Paragraphs>
  <Slides>26</Slides>
  <Notes>26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27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slides-shopup</dc:title>
  <cp:revision>11</cp:revision>
  <dcterms:created xsi:type="dcterms:W3CDTF">2006-08-16T00:00:00Z</dcterms:created>
  <dcterms:modified xsi:type="dcterms:W3CDTF">2025-12-04T02:14:37Z</dcterms:modified>
  <dc:identifier>DAG5-y-ATIo</dc:identifier>
</cp:coreProperties>
</file>